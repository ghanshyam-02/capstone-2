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F3A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B1F3A"/>
                </a:solidFill>
                <a:latin typeface="Calibri"/>
              </a:rPr>
              <a:t>Settlement gap by reason (₹ lakh)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(₹ lakh)</c:v>
                </c:pt>
              </c:strCache>
            </c:strRef>
          </c:tx>
          <c:spPr>
            <a:solidFill>
              <a:srgbClr val="0B1F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Partly settled</c:v>
                  </c:pt>
                  <c:pt idx="1">
                    <c:v>Still pending</c:v>
                  </c:pt>
                  <c:pt idx="2">
                    <c:v>Never settled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3.79</c:v>
                </c:pt>
                <c:pt idx="1">
                  <c:v>8.1</c:v>
                </c:pt>
                <c:pt idx="2">
                  <c:v>14.07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803D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5803D"/>
                </a:solidFill>
                <a:latin typeface="Calibri"/>
              </a:rPr>
              <a:t>22 / 22 tests passed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Pipeline</c:v>
                  </c:pt>
                  <c:pt idx="1">
                    <c:v>Security</c:v>
                  </c:pt>
                  <c:pt idx="2">
                    <c:v>Unit (KPIs)</c:v>
                  </c:pt>
                  <c:pt idx="3">
                    <c:v>Data model</c:v>
                  </c:pt>
                  <c:pt idx="4">
                    <c:v>API contract</c:v>
                  </c:pt>
                  <c:pt idx="5">
                    <c:v>Business rules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platform explains the settlement gap and was taken to production safely, including recovery from an injected incident.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 of Payments' question drives everything: why is there a gap, and where does it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Medallion architecture. Bronze keeps the raw truth, Silver makes it trustworthy, Gold makes it useful. The API only reads Gold.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lives in sql/04_bronze_to_silver.sql. Bad rows are never dropped silently — they are in audit.dq_log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Grain is the key decision. The one-to-many trap is solved by aggregating settlements per transaction in v_txn_settlement.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for September 2026. The dashboard never touches the database — only the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the Head of Payments asked for: how much, why, which merchants, which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run on temporary databases built by the real pipeline. Security gate rule: zero critical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deploy_prod only runs on main, after a passing smoke test, when a person clicks it: that is the controlled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paths produce the same image from the same code, so production does not care which one built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was deployed to green with no traffic, fully validated, then traffic switched. Blue stays up for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broken production. The data was unchanged — only the release (code + config) was faulty.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Previous vs current production compared side by side: API responses, deployment version, database file, code diff,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timeline from the run on 26 Sep 2026. Before rollback 103.98 %, after rollback 93.72 % =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controls are already implemented and ran during this exercise; two are proposed process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five outcomes the brief asks for, and that everything is evidence-backed.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PAYMENTS OPERATIONS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Merchant Settlement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Platform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four raw source files to a tested, secured, blue-green deployed platform — and a live production incident detected and rolled back in seconds.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321040" y="137160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49640" y="148132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93.72 %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549640" y="2103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rate, explained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321040" y="27889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49640" y="289864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/ 0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520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 / critical findings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21040" y="420624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9640" y="431596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from a faulty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4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DuckDB · FastAPI · Docker · GitLab CI · Jenkins · Nginx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₹2.2 Cr that nobody could explain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0215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1363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₹48 Cr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04872"/>
            <a:ext cx="3136392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payments yesterday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554480"/>
            <a:ext cx="350215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07992" y="1691640"/>
            <a:ext cx="31363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₹45.8 Cr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07992" y="2404872"/>
            <a:ext cx="3136392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to merchants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511296" cy="1371600"/>
          </a:xfrm>
          <a:prstGeom prst="roundRect">
            <a:avLst>
              <a:gd name="adj" fmla="val 5333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84464" y="1691640"/>
            <a:ext cx="314553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₹2.2 Cr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84464" y="2404872"/>
            <a:ext cx="31455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— cause unknown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474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Operations could not answer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 across 4 systems: transactions, settlements, merchant risk, payment events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nightly Excel reports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could be failed payments, pending settlements, delays, risky merchants or bad data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329184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474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 it to do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9776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payment &amp; settlement KPIs in one place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gap and investigate delayed settlements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merchants with abnormal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it through an API + dashboard, incrementally, fully tested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platform: raw files to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CSV files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· settlements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events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84248" y="2697480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2402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loads new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only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84448" y="2697480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490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404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copy,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rejected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84648" y="2697480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3492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4406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typed,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697480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494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408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KPI table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85048" y="2697480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496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410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API-key secured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985248" y="2697480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49840" y="1920240"/>
            <a:ext cx="1417320" cy="15544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10241280" y="21031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+ charts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749040" y="150876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— SQL data warehouse in a single file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057900" y="3493008"/>
            <a:ext cx="0" cy="667512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526280" y="420624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17720" y="427939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audit.dq_log — every bad row + reason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(nothing disappears silently)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ingestion → Bronze → Silver → Gold in ~3 s. All data logic is plain SQL; Python only orchestrates. Incremental: files load once, a watermark processes only new rows, only changed dates are recalculated.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DATA QUALITY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hidden data problems, each solved in SQL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solved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transaction, many settlements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settlements per transaction BEFORE joining (T1001: 8,000 + 2,000 = 10,000, not 20,000)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Late-arriving 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business time (event_ts) and processing time (ingestion_ts); &gt; 5 min late = kept + flagged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Out-of-order 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events by event_ts, not arrival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risk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SCD Type 2 merchant dimension — each payment uses the risk valid on its 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Dirty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 REJECT / QUARANTINE / WARNING and logged with a reason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46720" y="1691640"/>
            <a:ext cx="33832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3,830 → 3,800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78101"/>
            <a:ext cx="338328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transactions: Bronze → Gold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63840" y="2724912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FDF3E3"/>
          </a:solidFill>
          <a:ln w="9525">
            <a:solidFill>
              <a:srgbClr val="FDF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46720" y="2862072"/>
            <a:ext cx="33832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348533"/>
            <a:ext cx="338328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quarantined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0" y="3895344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46720" y="4032504"/>
            <a:ext cx="33832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518965"/>
            <a:ext cx="338328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rejected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63840" y="5065776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E7F5EC"/>
          </a:solidFill>
          <a:ln w="9525">
            <a:solidFill>
              <a:srgbClr val="E7F5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46720" y="5202936"/>
            <a:ext cx="338328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5689397"/>
            <a:ext cx="338328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events kept + flagged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DATA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star schema — grain defined for every table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0" y="32461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926080" y="3319272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attempt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55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737360" y="2514600"/>
            <a:ext cx="2377440" cy="731520"/>
          </a:xfrm>
          <a:prstGeom prst="line">
            <a:avLst/>
          </a:prstGeom>
          <a:noFill/>
          <a:ln w="15875">
            <a:solidFill>
              <a:srgbClr val="D6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6459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755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 (SCD2)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merchant per risk period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0" y="2514600"/>
            <a:ext cx="0" cy="731520"/>
          </a:xfrm>
          <a:prstGeom prst="line">
            <a:avLst/>
          </a:prstGeom>
          <a:noFill/>
          <a:ln w="15875">
            <a:solidFill>
              <a:srgbClr val="D6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0" y="16459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1755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hashed customer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H="1">
            <a:off x="4114800" y="2514600"/>
            <a:ext cx="2377440" cy="731520"/>
          </a:xfrm>
          <a:prstGeom prst="line">
            <a:avLst/>
          </a:prstGeom>
          <a:noFill/>
          <a:ln w="15875">
            <a:solidFill>
              <a:srgbClr val="D6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8463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9560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fact_settlement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303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settlement record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H="1">
            <a:off x="1737360" y="4160520"/>
            <a:ext cx="2377440" cy="685800"/>
          </a:xfrm>
          <a:prstGeom prst="line">
            <a:avLst/>
          </a:prstGeom>
          <a:noFill/>
          <a:ln w="15875">
            <a:solidFill>
              <a:srgbClr val="D6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6080" y="48463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26080" y="49560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fact_payment_event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5303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lifecycle event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0" y="4160520"/>
            <a:ext cx="0" cy="685800"/>
          </a:xfrm>
          <a:prstGeom prst="line">
            <a:avLst/>
          </a:prstGeom>
          <a:noFill/>
          <a:ln w="15875">
            <a:solidFill>
              <a:srgbClr val="D6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48463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03520" y="49560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agg_merchant_daily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303520" y="5303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merchant per day (KPIs)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0" y="4160520"/>
            <a:ext cx="2377440" cy="685800"/>
          </a:xfrm>
          <a:prstGeom prst="line">
            <a:avLst/>
          </a:prstGeom>
          <a:noFill/>
          <a:ln w="15875">
            <a:solidFill>
              <a:srgbClr val="D6DC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1645920"/>
            <a:ext cx="3474720" cy="4069080"/>
          </a:xfrm>
          <a:prstGeom prst="roundRect">
            <a:avLst>
              <a:gd name="adj" fmla="val 2105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choices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224028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 kept at their own grain — rolled up per transaction before any join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keys, foreign keys and CHECK constraints enforced by DuckDB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on date and merchant for the API filters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 stored only as a SHA-256 hash (PII)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KPI table → API answers in milliseconds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API &amp;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answer, served through a secured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06654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170078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3,383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15007"/>
            <a:ext cx="1700784" cy="347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transactions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98064" y="1463040"/>
            <a:ext cx="206654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980944" y="1600200"/>
            <a:ext cx="170078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₹4.13 Cr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980944" y="2115007"/>
            <a:ext cx="1700784" cy="347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volume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47488" y="1463040"/>
            <a:ext cx="206654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30368" y="1600200"/>
            <a:ext cx="170078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93.72 %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5230368" y="2115007"/>
            <a:ext cx="1700784" cy="347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· target 95 %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96912" y="1463040"/>
            <a:ext cx="206654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79792" y="1600200"/>
            <a:ext cx="170078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₹25.95 L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79792" y="2115007"/>
            <a:ext cx="1700784" cy="347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gap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46336" y="1463040"/>
            <a:ext cx="206654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29216" y="1600200"/>
            <a:ext cx="170078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77.09 %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729216" y="2115007"/>
            <a:ext cx="1700784" cy="347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≤ 30 min · target 90 %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+ Pydantic + OpenAPI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3832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/api/v1/settlement-summary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/api/v1/merchant-exceptions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/api/v1/daily-trend · /merchants · /health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bad date · 401 no key · 404 unknown merchant · 422 invalid input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SQL · read-only database · API key from environment, never in code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64024" y="2798064"/>
            <a:ext cx="6885432" cy="26721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0" descr="C:/Users/Administrator/Desktop/capstone-2/day2/evidence/dashboard_v2_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2834640"/>
            <a:ext cx="6812280" cy="259899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800600" y="55778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reads only the API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₹25.95 L gap comes from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46304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78040" y="15361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M117 · M108 · M104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9385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gaps — all HIGH-risk merchants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49440" y="2542032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DF3E3"/>
          </a:solidFill>
          <a:ln w="9525">
            <a:solidFill>
              <a:srgbClr val="FDF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178040" y="26151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Sep 2026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017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incident: delays spike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3621024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DF3E3"/>
          </a:solidFill>
          <a:ln w="9525">
            <a:solidFill>
              <a:srgbClr val="FDF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78040" y="36941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M110 · M121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0965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settle, but late (SLA ≈ 0 %)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4700016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178040" y="477316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merchants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51755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both targets (rate &lt; 95 % and SLA &lt; 90 %)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QUALITY 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automated tests and a 4-step security gate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1206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the mandatory negative test: 8,000 + 2,000 on a 10,000 payment must give 100 %, never 200 %.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035040" y="1463040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217920" y="1764792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157276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· Bandit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19202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high — 3 medium SQL warnings reviewed as false positives (constant table names, values bound)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35040" y="2633472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2935224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2743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 · Gitleaks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309067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keys or passwords in files or git history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35040" y="3803904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105656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391363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· pip-audit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2611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known vulnerable libraries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35040" y="4974336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17920" y="5276088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1792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0840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· Trivy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766560" y="543153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critical — 44 high in base OS packages, no fix released yet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CI/CD — PRIMARY PATH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GitLab CI: every change tested, scanned and approved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38528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03120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28416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93008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18304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82896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08192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72784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98080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62672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deploy_dev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87968" y="1508760"/>
            <a:ext cx="1298448" cy="566928"/>
          </a:xfrm>
          <a:prstGeom prst="chevron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smoke_test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277856" y="1508760"/>
            <a:ext cx="1298448" cy="566928"/>
          </a:xfrm>
          <a:prstGeom prst="chevron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442448" y="1508760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deploy_prod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77856" y="212140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approval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" y="2615184"/>
            <a:ext cx="6656832" cy="18775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0" descr="C:/Users/Administrator/Desktop/capstone-2/day2/evidence/03_gitlab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1760"/>
            <a:ext cx="6583680" cy="1804416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8640" y="45262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pipeline run — 10 jobs green, 22 tests reported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498080" y="2606040"/>
            <a:ext cx="4114800" cy="3611880"/>
          </a:xfrm>
          <a:prstGeom prst="roundRect">
            <a:avLst>
              <a:gd name="adj" fmla="val 2025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2668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is engineered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7726680" y="320040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keep every report as evidence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speeds up dependency installs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image built only after ALL gates pass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deploy only from main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= masked, protected variable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production environments tracked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4983480"/>
            <a:ext cx="6583680" cy="1234440"/>
          </a:xfrm>
          <a:prstGeom prst="roundRect">
            <a:avLst>
              <a:gd name="adj" fmla="val 5926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5074920"/>
            <a:ext cx="6172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 in CI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built image and checks real business values: HTTP 200, valid JSON, &lt; 500 ms, settlement rate = 93.72 % baseline. A failure blocks production.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CI — SECONDARY PATH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Jenkins builds the same artifact independently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58568" y="1847088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23160" y="15087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23160" y="1508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33088" y="1847088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97680" y="15087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07608" y="1847088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508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checks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82128" y="1847088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46720" y="15087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0" y="1508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756648" y="1847088"/>
            <a:ext cx="14630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921240" y="1508760"/>
            <a:ext cx="1691640" cy="685800"/>
          </a:xfrm>
          <a:prstGeom prst="roundRect">
            <a:avLst>
              <a:gd name="adj" fmla="val 10667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21240" y="1508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artifact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12064" y="2569464"/>
            <a:ext cx="6473952" cy="1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0" descr="C:/Users/Administrator/Desktop/capstone-2/day2/evidence/04_jenkins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6400800" cy="159845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8640" y="42976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Jenkinsfile in the repo (pipeline as code) · builds #1 and #2 green · 22 tests · no known vulnerabilities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892040"/>
            <a:ext cx="6400800" cy="1325880"/>
          </a:xfrm>
          <a:prstGeom prst="roundRect">
            <a:avLst>
              <a:gd name="adj" fmla="val 5517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98348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runs as a Docker container with Python and the Docker CLI; it uses the host Docker engine to build settlement-api:jenkins-&lt;build&gt;.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315200" y="2606040"/>
            <a:ext cx="4297680" cy="3611880"/>
          </a:xfrm>
          <a:prstGeom prst="roundRect">
            <a:avLst>
              <a:gd name="adj" fmla="val 2025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4380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keep Jenkins next to GitLab?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543800" y="352044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enterprise workloads already run on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backup build path if GitLab is down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integrations with older tools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migration instead of a risky big-bang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+ blue-green: zero-downtime cutover to V2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31720" y="260604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6080" y="214884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926080" y="21488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:8090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V="1">
            <a:off x="4892040" y="1965960"/>
            <a:ext cx="64008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92040" y="2788920"/>
            <a:ext cx="640080" cy="45720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77840" y="15544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E4ECF7"/>
          </a:solidFill>
          <a:ln w="9525">
            <a:solidFill>
              <a:srgbClr val="E4ECF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577840" y="1554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· V1 1.0.0  :8001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77840" y="288036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E7F5EC"/>
          </a:solidFill>
          <a:ln w="9525">
            <a:solidFill>
              <a:srgbClr val="E7F5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577840" y="2880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· V2 2.0.0  :8002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image contains the code, the source files and the validated database. The API key is injected at runtime, never baked in.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7132320" cy="1737360"/>
          </a:xfrm>
          <a:prstGeom prst="roundRect">
            <a:avLst>
              <a:gd name="adj" fmla="val 4211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9028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Cutover — 26 Sep 2026, 21:41:52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switch.ps1 green  →  Nginx config changed and reloaded, no dropped requests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cutover via :8090  →  version 2.0.0 · smoke test PASS · settlement rate 93.72 %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kept running  →  instant rollback available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1554480"/>
            <a:ext cx="3566160" cy="4663440"/>
          </a:xfrm>
          <a:prstGeom prst="roundRect">
            <a:avLst>
              <a:gd name="adj" fmla="val 2051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Pre-cutover checks on green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75320" y="224028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753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24028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health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75320" y="278892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7889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health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75320" y="333756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753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33375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connectivity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75320" y="388620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778240" y="38862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 (GitLab + Jenkins)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75320" y="443484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7532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 (22/22)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75320" y="498348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753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778240" y="498348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275320" y="553212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7532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778240" y="55321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reconciliation (93.72 %)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PRODUCTION INCIDENT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faulty V2 release went live — and /health said 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2064" y="1472184"/>
            <a:ext cx="6839712" cy="317420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C:/Users/Administrator/Desktop/capstone-2/day2/incident/evidence/incident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766560" cy="31010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6817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after release 2.0.1 reached the live green environment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690104" y="1472184"/>
            <a:ext cx="3959352" cy="209171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C:/Users/Administrator/Desktop/capstone-2/day2/incident/evidence/api_heal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508760"/>
            <a:ext cx="3886200" cy="2018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26680" y="35730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still 200 — but version 2.0.1 on settlement_db_v2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726680" y="407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909560" y="42131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103.98 %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4642888"/>
            <a:ext cx="1508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rate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738360" y="407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9921240" y="42131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−₹16.5 L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921240" y="4642888"/>
            <a:ext cx="1508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gap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 w="9525">
            <a:solidFill>
              <a:srgbClr val="FBE9E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19379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amount above what was paid for 21 merchants, the exceptions list shrank from 11 to 8, yet every request returned HTTP 200 and the logs showed no errors. A health check alone could not see it.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DETECT &amp; DIAGNOSE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checks found it; comparing V1 and V2 explained it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(blue)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2.0.1 (green)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amount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₹4,13,42,329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₹4,13,42,329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Settled amount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₹3,87,46,904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₹4,29,88,865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103.98 %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₹25,95,426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−₹16,46,536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Risky merchants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4348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amount, different settled amount → the fault is in the settlement calculation, not the data.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074920"/>
            <a:ext cx="5760720" cy="1143000"/>
          </a:xfrm>
          <a:prstGeom prst="roundRect">
            <a:avLst>
              <a:gd name="adj" fmla="val 6400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38928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by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smoke test FAIL (rate outside 0–100, ≠ 93.72 % baseline) and KPI reconciliation FAIL (KPI table 42.99 M vs facts 38.75 M).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675120" y="15544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0" y="1856232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166420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defect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2011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query joined settlements BEFORE aggregating — split settlements counted twice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675120" y="2724912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58000" y="3026664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0" y="3026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8346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defect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0" y="318211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 to settlement_db_v2 instead of the approved database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675120" y="3895344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858000" y="4197096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0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400507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calculation defect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406640" y="435254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guard removed, so the impossible value reached users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675120" y="5065776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858000" y="5367528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0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5175504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defect — checked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406640" y="5522976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totals identical to V1: not present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·  DECISION &amp; RECOVERY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Rollback to V1 — production restored in 3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9418320" cy="0"/>
          </a:xfrm>
          <a:prstGeom prst="line">
            <a:avLst/>
          </a:prstGeom>
          <a:noFill/>
          <a:ln w="25400">
            <a:solidFill>
              <a:srgbClr val="D6DC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274320" cy="274320"/>
          </a:xfrm>
          <a:prstGeom prst="ellipse">
            <a:avLst/>
          </a:prstGeom>
          <a:solidFill>
            <a:srgbClr val="B91C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22:05:24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Faulty 2.0.1 live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96896" y="1737360"/>
            <a:ext cx="274320" cy="274320"/>
          </a:xfrm>
          <a:prstGeom prst="ellipse">
            <a:avLst/>
          </a:prstGeom>
          <a:solidFill>
            <a:srgbClr val="B91C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14016" y="2103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22:06:25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414016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62272" y="1737360"/>
            <a:ext cx="274320" cy="274320"/>
          </a:xfrm>
          <a:prstGeom prst="ellipse">
            <a:avLst/>
          </a:prstGeom>
          <a:solidFill>
            <a:srgbClr val="B91C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79392" y="2103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22:06:40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279392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found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27648" y="1737360"/>
            <a:ext cx="274320" cy="274320"/>
          </a:xfrm>
          <a:prstGeom prst="ellipse">
            <a:avLst/>
          </a:prstGeom>
          <a:solidFill>
            <a:srgbClr val="1580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44768" y="2103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22:13:39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1447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rollback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93024" y="1737360"/>
            <a:ext cx="274320" cy="274320"/>
          </a:xfrm>
          <a:prstGeom prst="ellipse">
            <a:avLst/>
          </a:prstGeom>
          <a:solidFill>
            <a:srgbClr val="1580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10144" y="2103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22:13:42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10144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restored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58400" y="1737360"/>
            <a:ext cx="274320" cy="274320"/>
          </a:xfrm>
          <a:prstGeom prst="ellipse">
            <a:avLst/>
          </a:prstGeom>
          <a:solidFill>
            <a:srgbClr val="1580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75520" y="2103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22:13:51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reconciled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017520"/>
            <a:ext cx="4572000" cy="3200400"/>
          </a:xfrm>
          <a:prstGeom prst="roundRect">
            <a:avLst>
              <a:gd name="adj" fmla="val 2286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rollback, not fix-forward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3657600"/>
            <a:ext cx="4114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money figures were live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was validated and still running — one switch away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defects: a live patch was high risk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switch.ps1 blue = seconds; a fix = hours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49824" y="3026664"/>
            <a:ext cx="6199632" cy="267933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C:/Users/Administrator/Desktop/capstone-2/day2/incident/evidence/after_roll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3063240"/>
            <a:ext cx="6126480" cy="260618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5715145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rollback: 93.72 % · gap ₹25,95,426 · smoke test and reconciliation PASS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PREVENTION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controls so it cannot happen again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a Gold aggregation change reached production without a business-KPI gate — the release was judged by /health alone.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42316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4414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test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7180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with multiple settlements must stay at 100 % — runs in GitLab and Jenkins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36758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21945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242316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4414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gate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97180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table must equal the facts and settled ≤ successful — mandatory before every cutover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6758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46720" y="21945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6DC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2423160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24414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smoke test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97180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settlement rate against the baseline, not only /health — in the CI pipeline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36758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23160" y="42062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651760" y="44348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65176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154680" y="4453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anomaly alert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9834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if the rate moves sharply or leaves 0–100 %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00600" y="56875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72200" y="42062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1F4F8"/>
          </a:solidFill>
          <a:ln w="9525">
            <a:solidFill>
              <a:srgbClr val="F1F4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44348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4453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data-model review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49834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approval for any change to Gold-layer metrics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56875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New York  ·  Settlement Intelligence Platform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 unexplained gap to a trusted platform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visibility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319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KPIs instead of nightly Excel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16936" y="246888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9816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099816" y="32004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investigation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099816" y="39319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by reason, merchant and day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246888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85232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32004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trust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85232" y="39319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data logged, numbers reconciled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87768" y="246888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70648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470648" y="32004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safety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70648" y="39319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security gates, approval, blue-green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73184" y="246888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56064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656064" y="32004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capability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56064" y="39319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Faulty release rolled back in 3 s, with evidence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worked” is not enough — every claim in this deck is backed by saved evidence: test reports, security scans, pipeline runs, smoke tests, reconciliation and the incident timeline.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Merchant Settlement Intelligence Platform</dc:title>
  <dc:subject>PptxGenJS Presentation</dc:subject>
  <dc:creator>PptxGenJS</dc:creator>
  <cp:lastModifiedBy>PptxGenJS</cp:lastModifiedBy>
  <cp:revision>1</cp:revision>
  <dcterms:created xsi:type="dcterms:W3CDTF">2026-09-26T17:07:11Z</dcterms:created>
  <dcterms:modified xsi:type="dcterms:W3CDTF">2026-09-26T17:07:11Z</dcterms:modified>
</cp:coreProperties>
</file>
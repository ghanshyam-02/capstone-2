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2A24"/>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320040"/>
          </a:xfrm>
          <a:prstGeom prst="rect">
            <a:avLst/>
          </a:prstGeom>
          <a:noFill/>
          <a:ln/>
        </p:spPr>
        <p:txBody>
          <a:bodyPr wrap="square" lIns="0" tIns="0" rIns="0" bIns="0" rtlCol="0" anchor="t"/>
          <a:lstStyle/>
          <a:p>
            <a:pPr indent="0" marL="0">
              <a:buNone/>
            </a:pPr>
            <a:r>
              <a:rPr lang="en-US" sz="1300" b="1" spc="300" kern="0" dirty="0">
                <a:solidFill>
                  <a:srgbClr val="C0582F"/>
                </a:solidFill>
                <a:latin typeface="Calibri" pitchFamily="34" charset="0"/>
                <a:ea typeface="Calibri" pitchFamily="34" charset="-122"/>
                <a:cs typeface="Calibri" pitchFamily="34" charset="-120"/>
              </a:rPr>
              <a:t>BANK OF NEW YORK</a:t>
            </a:r>
            <a:endParaRPr lang="en-US" sz="1300" dirty="0"/>
          </a:p>
        </p:txBody>
      </p:sp>
      <p:sp>
        <p:nvSpPr>
          <p:cNvPr id="3" name="Text 1"/>
          <p:cNvSpPr txBox="1"/>
          <p:nvPr/>
        </p:nvSpPr>
        <p:spPr>
          <a:xfrm>
            <a:off x="731520" y="2194560"/>
            <a:ext cx="9144000" cy="18288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Merchant Settlement</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Intelligence Platform</a:t>
            </a:r>
            <a:endParaRPr lang="en-US" sz="4800" dirty="0"/>
          </a:p>
        </p:txBody>
      </p:sp>
      <p:sp>
        <p:nvSpPr>
          <p:cNvPr id="4" name="Text 2"/>
          <p:cNvSpPr txBox="1"/>
          <p:nvPr/>
        </p:nvSpPr>
        <p:spPr>
          <a:xfrm>
            <a:off x="731520" y="4251960"/>
            <a:ext cx="7772400" cy="1005840"/>
          </a:xfrm>
          <a:prstGeom prst="rect">
            <a:avLst/>
          </a:prstGeom>
          <a:noFill/>
          <a:ln/>
        </p:spPr>
        <p:txBody>
          <a:bodyPr wrap="square" lIns="0" tIns="0" rIns="0" bIns="0" rtlCol="0" anchor="t"/>
          <a:lstStyle/>
          <a:p>
            <a:pPr indent="0" marL="0">
              <a:buNone/>
            </a:pPr>
            <a:r>
              <a:rPr lang="en-US" sz="1700" dirty="0">
                <a:solidFill>
                  <a:srgbClr val="EADFD3"/>
                </a:solidFill>
                <a:latin typeface="Calibri" pitchFamily="34" charset="0"/>
                <a:ea typeface="Calibri" pitchFamily="34" charset="-122"/>
                <a:cs typeface="Calibri" pitchFamily="34" charset="-120"/>
              </a:rPr>
              <a:t>How we turned four messy source files into a tested, secure platform, shipped it with CI/CD and blue-green deployment, and recovered from a broken release in seconds.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Problem Statement</a:t>
            </a:r>
            <a:endParaRPr lang="en-US" sz="3200" dirty="0"/>
          </a:p>
        </p:txBody>
      </p:sp>
      <p:sp>
        <p:nvSpPr>
          <p:cNvPr id="3" name="Shape 1"/>
          <p:cNvSpPr/>
          <p:nvPr/>
        </p:nvSpPr>
        <p:spPr>
          <a:xfrm>
            <a:off x="548640" y="1554480"/>
            <a:ext cx="3502152" cy="1371600"/>
          </a:xfrm>
          <a:prstGeom prst="roundRect">
            <a:avLst>
              <a:gd name="adj" fmla="val 4667"/>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4" name="Text 2"/>
          <p:cNvSpPr txBox="1"/>
          <p:nvPr/>
        </p:nvSpPr>
        <p:spPr>
          <a:xfrm>
            <a:off x="731520" y="1664208"/>
            <a:ext cx="3136392" cy="754380"/>
          </a:xfrm>
          <a:prstGeom prst="rect">
            <a:avLst/>
          </a:prstGeom>
          <a:noFill/>
          <a:ln/>
        </p:spPr>
        <p:txBody>
          <a:bodyPr wrap="square" lIns="0" tIns="0" rIns="0" bIns="0" rtlCol="0" anchor="ctr"/>
          <a:lstStyle/>
          <a:p>
            <a:pPr indent="0" marL="0">
              <a:buNone/>
            </a:pPr>
            <a:r>
              <a:rPr lang="en-US" sz="2800" b="1" dirty="0">
                <a:solidFill>
                  <a:srgbClr val="2F2A24"/>
                </a:solidFill>
                <a:latin typeface="Cambria" pitchFamily="34" charset="0"/>
                <a:ea typeface="Cambria" pitchFamily="34" charset="-122"/>
                <a:cs typeface="Cambria" pitchFamily="34" charset="-120"/>
              </a:rPr>
              <a:t>₹48 Cr</a:t>
            </a:r>
            <a:endParaRPr lang="en-US" sz="2800" dirty="0"/>
          </a:p>
        </p:txBody>
      </p:sp>
      <p:sp>
        <p:nvSpPr>
          <p:cNvPr id="5" name="Text 3"/>
          <p:cNvSpPr txBox="1"/>
          <p:nvPr/>
        </p:nvSpPr>
        <p:spPr>
          <a:xfrm>
            <a:off x="731520" y="2404872"/>
            <a:ext cx="3136392" cy="452628"/>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successful payments yesterday</a:t>
            </a:r>
            <a:endParaRPr lang="en-US" sz="1200" dirty="0"/>
          </a:p>
        </p:txBody>
      </p:sp>
      <p:sp>
        <p:nvSpPr>
          <p:cNvPr id="6" name="Shape 4"/>
          <p:cNvSpPr/>
          <p:nvPr/>
        </p:nvSpPr>
        <p:spPr>
          <a:xfrm>
            <a:off x="4325112" y="1554480"/>
            <a:ext cx="3502152" cy="1371600"/>
          </a:xfrm>
          <a:prstGeom prst="roundRect">
            <a:avLst>
              <a:gd name="adj" fmla="val 4667"/>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7" name="Text 5"/>
          <p:cNvSpPr txBox="1"/>
          <p:nvPr/>
        </p:nvSpPr>
        <p:spPr>
          <a:xfrm>
            <a:off x="4507992" y="1664208"/>
            <a:ext cx="3136392" cy="754380"/>
          </a:xfrm>
          <a:prstGeom prst="rect">
            <a:avLst/>
          </a:prstGeom>
          <a:noFill/>
          <a:ln/>
        </p:spPr>
        <p:txBody>
          <a:bodyPr wrap="square" lIns="0" tIns="0" rIns="0" bIns="0" rtlCol="0" anchor="ctr"/>
          <a:lstStyle/>
          <a:p>
            <a:pPr indent="0" marL="0">
              <a:buNone/>
            </a:pPr>
            <a:r>
              <a:rPr lang="en-US" sz="2800" b="1" dirty="0">
                <a:solidFill>
                  <a:srgbClr val="2F2A24"/>
                </a:solidFill>
                <a:latin typeface="Cambria" pitchFamily="34" charset="0"/>
                <a:ea typeface="Cambria" pitchFamily="34" charset="-122"/>
                <a:cs typeface="Cambria" pitchFamily="34" charset="-120"/>
              </a:rPr>
              <a:t>₹45.8 Cr</a:t>
            </a:r>
            <a:endParaRPr lang="en-US" sz="2800" dirty="0"/>
          </a:p>
        </p:txBody>
      </p:sp>
      <p:sp>
        <p:nvSpPr>
          <p:cNvPr id="8" name="Text 6"/>
          <p:cNvSpPr txBox="1"/>
          <p:nvPr/>
        </p:nvSpPr>
        <p:spPr>
          <a:xfrm>
            <a:off x="4507992" y="2404872"/>
            <a:ext cx="3136392" cy="452628"/>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settled to merchants</a:t>
            </a:r>
            <a:endParaRPr lang="en-US" sz="1200" dirty="0"/>
          </a:p>
        </p:txBody>
      </p:sp>
      <p:sp>
        <p:nvSpPr>
          <p:cNvPr id="9" name="Shape 7"/>
          <p:cNvSpPr/>
          <p:nvPr/>
        </p:nvSpPr>
        <p:spPr>
          <a:xfrm>
            <a:off x="8101584" y="1554480"/>
            <a:ext cx="3511296" cy="1371600"/>
          </a:xfrm>
          <a:prstGeom prst="roundRect">
            <a:avLst>
              <a:gd name="adj" fmla="val 4667"/>
            </a:avLst>
          </a:prstGeom>
          <a:solidFill>
            <a:srgbClr val="F9E8E5"/>
          </a:solidFill>
          <a:ln w="9525">
            <a:solidFill>
              <a:srgbClr val="F9E8E5"/>
            </a:solidFill>
            <a:prstDash val="solid"/>
          </a:ln>
          <a:effectLst>
            <a:outerShdw sx="100000" sy="100000" kx="0" ky="0" algn="bl" rotWithShape="0" blurRad="63500" dist="25400" dir="5400000">
              <a:srgbClr val="000000">
                <a:alpha val="10000"/>
              </a:srgbClr>
            </a:outerShdw>
          </a:effectLst>
        </p:spPr>
      </p:sp>
      <p:sp>
        <p:nvSpPr>
          <p:cNvPr id="10" name="Text 8"/>
          <p:cNvSpPr txBox="1"/>
          <p:nvPr/>
        </p:nvSpPr>
        <p:spPr>
          <a:xfrm>
            <a:off x="8284464" y="1664208"/>
            <a:ext cx="3145536" cy="754380"/>
          </a:xfrm>
          <a:prstGeom prst="rect">
            <a:avLst/>
          </a:prstGeom>
          <a:noFill/>
          <a:ln/>
        </p:spPr>
        <p:txBody>
          <a:bodyPr wrap="square" lIns="0" tIns="0" rIns="0" bIns="0" rtlCol="0" anchor="ctr"/>
          <a:lstStyle/>
          <a:p>
            <a:pPr indent="0" marL="0">
              <a:buNone/>
            </a:pPr>
            <a:r>
              <a:rPr lang="en-US" sz="2800" b="1" dirty="0">
                <a:solidFill>
                  <a:srgbClr val="B03A2E"/>
                </a:solidFill>
                <a:latin typeface="Cambria" pitchFamily="34" charset="0"/>
                <a:ea typeface="Cambria" pitchFamily="34" charset="-122"/>
                <a:cs typeface="Cambria" pitchFamily="34" charset="-120"/>
              </a:rPr>
              <a:t>₹2.2 Cr</a:t>
            </a:r>
            <a:endParaRPr lang="en-US" sz="2800" dirty="0"/>
          </a:p>
        </p:txBody>
      </p:sp>
      <p:sp>
        <p:nvSpPr>
          <p:cNvPr id="11" name="Text 9"/>
          <p:cNvSpPr txBox="1"/>
          <p:nvPr/>
        </p:nvSpPr>
        <p:spPr>
          <a:xfrm>
            <a:off x="8284464" y="2404872"/>
            <a:ext cx="3145536" cy="452628"/>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missing</a:t>
            </a:r>
            <a:endParaRPr lang="en-US" sz="1200" dirty="0"/>
          </a:p>
        </p:txBody>
      </p:sp>
      <p:sp>
        <p:nvSpPr>
          <p:cNvPr id="12" name="Shape 10"/>
          <p:cNvSpPr/>
          <p:nvPr/>
        </p:nvSpPr>
        <p:spPr>
          <a:xfrm>
            <a:off x="548640" y="3291840"/>
            <a:ext cx="5394960" cy="2834640"/>
          </a:xfrm>
          <a:prstGeom prst="roundRect">
            <a:avLst>
              <a:gd name="adj" fmla="val 2258"/>
            </a:avLst>
          </a:prstGeom>
          <a:solidFill>
            <a:srgbClr val="F4F3F0"/>
          </a:solidFill>
          <a:ln w="9525">
            <a:solidFill>
              <a:srgbClr val="F4F3F0"/>
            </a:solidFill>
            <a:prstDash val="solid"/>
          </a:ln>
        </p:spPr>
      </p:sp>
      <p:sp>
        <p:nvSpPr>
          <p:cNvPr id="13" name="Text 11"/>
          <p:cNvSpPr txBox="1"/>
          <p:nvPr/>
        </p:nvSpPr>
        <p:spPr>
          <a:xfrm>
            <a:off x="822960" y="3474720"/>
            <a:ext cx="4937760" cy="365760"/>
          </a:xfrm>
          <a:prstGeom prst="rect">
            <a:avLst/>
          </a:prstGeom>
          <a:noFill/>
          <a:ln/>
        </p:spPr>
        <p:txBody>
          <a:bodyPr wrap="square" lIns="0" tIns="0" rIns="0" bIns="0" rtlCol="0" anchor="t"/>
          <a:lstStyle/>
          <a:p>
            <a:pPr indent="0" marL="0">
              <a:buNone/>
            </a:pPr>
            <a:r>
              <a:rPr lang="en-US" sz="1800" b="1" dirty="0">
                <a:solidFill>
                  <a:srgbClr val="2F2A24"/>
                </a:solidFill>
                <a:latin typeface="Cambria" pitchFamily="34" charset="0"/>
                <a:ea typeface="Cambria" pitchFamily="34" charset="-122"/>
                <a:cs typeface="Cambria" pitchFamily="34" charset="-120"/>
              </a:rPr>
              <a:t>Why Operations couldn't answer it</a:t>
            </a:r>
            <a:endParaRPr lang="en-US" sz="1800" dirty="0"/>
          </a:p>
        </p:txBody>
      </p:sp>
      <p:sp>
        <p:nvSpPr>
          <p:cNvPr id="14" name="Text 12"/>
          <p:cNvSpPr txBox="1"/>
          <p:nvPr/>
        </p:nvSpPr>
        <p:spPr>
          <a:xfrm>
            <a:off x="822960" y="3977640"/>
            <a:ext cx="493776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The data lived in 4 separate systems: transactions, settlements, merchant risk and payment events</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They only had nightly Excel reports</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The gap could be failed payments, pending settlements, delays, risky merchants or just bad data</a:t>
            </a:r>
            <a:endParaRPr lang="en-US" sz="1400" dirty="0"/>
          </a:p>
        </p:txBody>
      </p:sp>
      <p:sp>
        <p:nvSpPr>
          <p:cNvPr id="15" name="Shape 13"/>
          <p:cNvSpPr/>
          <p:nvPr/>
        </p:nvSpPr>
        <p:spPr>
          <a:xfrm>
            <a:off x="6217920" y="3291840"/>
            <a:ext cx="5394960" cy="2834640"/>
          </a:xfrm>
          <a:prstGeom prst="roundRect">
            <a:avLst>
              <a:gd name="adj" fmla="val 2258"/>
            </a:avLst>
          </a:prstGeom>
          <a:solidFill>
            <a:srgbClr val="2F2A24"/>
          </a:solidFill>
          <a:ln w="9525">
            <a:solidFill>
              <a:srgbClr val="2F2A24"/>
            </a:solidFill>
            <a:prstDash val="solid"/>
          </a:ln>
        </p:spPr>
      </p:sp>
      <p:sp>
        <p:nvSpPr>
          <p:cNvPr id="16" name="Text 14"/>
          <p:cNvSpPr txBox="1"/>
          <p:nvPr/>
        </p:nvSpPr>
        <p:spPr>
          <a:xfrm>
            <a:off x="6492240" y="3474720"/>
            <a:ext cx="4937760" cy="365760"/>
          </a:xfrm>
          <a:prstGeom prst="rect">
            <a:avLst/>
          </a:prstGeom>
          <a:noFill/>
          <a:ln/>
        </p:spPr>
        <p:txBody>
          <a:bodyPr wrap="square" lIns="0" tIns="0" rIns="0" bIns="0" rtlCol="0" anchor="t"/>
          <a:lstStyle/>
          <a:p>
            <a:pPr indent="0" marL="0">
              <a:buNone/>
            </a:pPr>
            <a:r>
              <a:rPr lang="en-US" sz="1800" b="1" dirty="0">
                <a:solidFill>
                  <a:srgbClr val="F2A07B"/>
                </a:solidFill>
                <a:latin typeface="Cambria" pitchFamily="34" charset="0"/>
                <a:ea typeface="Cambria" pitchFamily="34" charset="-122"/>
                <a:cs typeface="Cambria" pitchFamily="34" charset="-120"/>
              </a:rPr>
              <a:t>Requirement</a:t>
            </a:r>
            <a:endParaRPr lang="en-US" sz="1800" dirty="0"/>
          </a:p>
        </p:txBody>
      </p:sp>
      <p:sp>
        <p:nvSpPr>
          <p:cNvPr id="17" name="Text 15"/>
          <p:cNvSpPr txBox="1"/>
          <p:nvPr/>
        </p:nvSpPr>
        <p:spPr>
          <a:xfrm>
            <a:off x="6492240" y="3977640"/>
            <a:ext cx="493776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Show payment and settlement KPIs in one place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Explain the gap and find delayed settlements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Flag merchants that settle badly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Serve it through an API and dashboard, load new data incrementally, and test it automatically</a:t>
            </a:r>
            <a:endParaRPr lang="en-US" sz="1400" dirty="0"/>
          </a:p>
        </p:txBody>
      </p:sp>
      <p:sp>
        <p:nvSpPr>
          <p:cNvPr id="18" name="Text 16"/>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DQ test and Data cleaning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49440" cy="914400"/>
        </p:xfrm>
        <a:graphic>
          <a:graphicData uri="http://schemas.openxmlformats.org/drawingml/2006/table">
            <a:tbl>
              <a:tblPr/>
              <a:tblGrid>
                <a:gridCol w="2194560"/>
                <a:gridCol w="47548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Problem in the data</a:t>
                      </a:r>
                      <a:endParaRPr lang="en-US" sz="14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Solution</a:t>
                      </a:r>
                      <a:endParaRPr lang="en-US" sz="14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r>
              <a:tr h="8229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One payment, several settlements</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Add up settlements per payment BEFORE joining (T1001: 8,000 + 2,000 = 10,000, not 20,000)</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8229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Events arriving late</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Keep when it happened (event_ts) and when we got it (ingestion_ts); more than 5 min late = kept but flagged</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68580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Events in the wrong order</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Number events by the time they happened, not the order they arrived</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8229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Merchant risk changing over time</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Keep risk history (SCD Type 2) so each payment gets the risk that was valid on its date</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77724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Dirty records</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Sort each one into REJECT / QUARANTINE / WARNING and log it with a reason</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bl>
          </a:graphicData>
        </a:graphic>
      </p:graphicFrame>
      <p:sp>
        <p:nvSpPr>
          <p:cNvPr id="4" name="Shape 1"/>
          <p:cNvSpPr/>
          <p:nvPr/>
        </p:nvSpPr>
        <p:spPr>
          <a:xfrm>
            <a:off x="7863840" y="1554480"/>
            <a:ext cx="3749040" cy="1005840"/>
          </a:xfrm>
          <a:prstGeom prst="roundRect">
            <a:avLst>
              <a:gd name="adj" fmla="val 6364"/>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5" name="Text 2"/>
          <p:cNvSpPr txBox="1"/>
          <p:nvPr/>
        </p:nvSpPr>
        <p:spPr>
          <a:xfrm>
            <a:off x="8046720" y="1664208"/>
            <a:ext cx="3383280" cy="553212"/>
          </a:xfrm>
          <a:prstGeom prst="rect">
            <a:avLst/>
          </a:prstGeom>
          <a:noFill/>
          <a:ln/>
        </p:spPr>
        <p:txBody>
          <a:bodyPr wrap="square" lIns="0" tIns="0" rIns="0" bIns="0" rtlCol="0" anchor="ctr"/>
          <a:lstStyle/>
          <a:p>
            <a:pPr indent="0" marL="0">
              <a:buNone/>
            </a:pPr>
            <a:r>
              <a:rPr lang="en-US" sz="2800" b="1" dirty="0">
                <a:solidFill>
                  <a:srgbClr val="2F2A24"/>
                </a:solidFill>
                <a:latin typeface="Cambria" pitchFamily="34" charset="0"/>
                <a:ea typeface="Cambria" pitchFamily="34" charset="-122"/>
                <a:cs typeface="Cambria" pitchFamily="34" charset="-120"/>
              </a:rPr>
              <a:t>3,830 → 3,800</a:t>
            </a:r>
            <a:endParaRPr lang="en-US" sz="2800" dirty="0"/>
          </a:p>
        </p:txBody>
      </p:sp>
      <p:sp>
        <p:nvSpPr>
          <p:cNvPr id="6" name="Text 3"/>
          <p:cNvSpPr txBox="1"/>
          <p:nvPr/>
        </p:nvSpPr>
        <p:spPr>
          <a:xfrm>
            <a:off x="8046720" y="2178101"/>
            <a:ext cx="3383280" cy="331927"/>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payments: raw → trusted</a:t>
            </a:r>
            <a:endParaRPr lang="en-US" sz="1200" dirty="0"/>
          </a:p>
        </p:txBody>
      </p:sp>
      <p:sp>
        <p:nvSpPr>
          <p:cNvPr id="7" name="Shape 4"/>
          <p:cNvSpPr/>
          <p:nvPr/>
        </p:nvSpPr>
        <p:spPr>
          <a:xfrm>
            <a:off x="7863840" y="2724912"/>
            <a:ext cx="3749040" cy="1005840"/>
          </a:xfrm>
          <a:prstGeom prst="roundRect">
            <a:avLst>
              <a:gd name="adj" fmla="val 6364"/>
            </a:avLst>
          </a:prstGeom>
          <a:solidFill>
            <a:srgbClr val="FBF1DE"/>
          </a:solidFill>
          <a:ln w="9525">
            <a:solidFill>
              <a:srgbClr val="FBF1DE"/>
            </a:solidFill>
            <a:prstDash val="solid"/>
          </a:ln>
          <a:effectLst>
            <a:outerShdw sx="100000" sy="100000" kx="0" ky="0" algn="bl" rotWithShape="0" blurRad="63500" dist="25400" dir="5400000">
              <a:srgbClr val="000000">
                <a:alpha val="10000"/>
              </a:srgbClr>
            </a:outerShdw>
          </a:effectLst>
        </p:spPr>
      </p:sp>
      <p:sp>
        <p:nvSpPr>
          <p:cNvPr id="8" name="Text 5"/>
          <p:cNvSpPr txBox="1"/>
          <p:nvPr/>
        </p:nvSpPr>
        <p:spPr>
          <a:xfrm>
            <a:off x="8046720" y="2834640"/>
            <a:ext cx="3383280" cy="553212"/>
          </a:xfrm>
          <a:prstGeom prst="rect">
            <a:avLst/>
          </a:prstGeom>
          <a:noFill/>
          <a:ln/>
        </p:spPr>
        <p:txBody>
          <a:bodyPr wrap="square" lIns="0" tIns="0" rIns="0" bIns="0" rtlCol="0" anchor="ctr"/>
          <a:lstStyle/>
          <a:p>
            <a:pPr indent="0" marL="0">
              <a:buNone/>
            </a:pPr>
            <a:r>
              <a:rPr lang="en-US" sz="2800" b="1" dirty="0">
                <a:solidFill>
                  <a:srgbClr val="B7791F"/>
                </a:solidFill>
                <a:latin typeface="Cambria" pitchFamily="34" charset="0"/>
                <a:ea typeface="Cambria" pitchFamily="34" charset="-122"/>
                <a:cs typeface="Cambria" pitchFamily="34" charset="-120"/>
              </a:rPr>
              <a:t>158</a:t>
            </a:r>
            <a:endParaRPr lang="en-US" sz="2800" dirty="0"/>
          </a:p>
        </p:txBody>
      </p:sp>
      <p:sp>
        <p:nvSpPr>
          <p:cNvPr id="9" name="Text 6"/>
          <p:cNvSpPr txBox="1"/>
          <p:nvPr/>
        </p:nvSpPr>
        <p:spPr>
          <a:xfrm>
            <a:off x="8046720" y="3348533"/>
            <a:ext cx="3383280" cy="331927"/>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records quarantined for review</a:t>
            </a:r>
            <a:endParaRPr lang="en-US" sz="1200" dirty="0"/>
          </a:p>
        </p:txBody>
      </p:sp>
      <p:sp>
        <p:nvSpPr>
          <p:cNvPr id="10" name="Shape 7"/>
          <p:cNvSpPr/>
          <p:nvPr/>
        </p:nvSpPr>
        <p:spPr>
          <a:xfrm>
            <a:off x="7863840" y="3895344"/>
            <a:ext cx="3749040" cy="1005840"/>
          </a:xfrm>
          <a:prstGeom prst="roundRect">
            <a:avLst>
              <a:gd name="adj" fmla="val 6364"/>
            </a:avLst>
          </a:prstGeom>
          <a:solidFill>
            <a:srgbClr val="F9E8E5"/>
          </a:solidFill>
          <a:ln w="9525">
            <a:solidFill>
              <a:srgbClr val="F9E8E5"/>
            </a:solidFill>
            <a:prstDash val="solid"/>
          </a:ln>
          <a:effectLst>
            <a:outerShdw sx="100000" sy="100000" kx="0" ky="0" algn="bl" rotWithShape="0" blurRad="63500" dist="25400" dir="5400000">
              <a:srgbClr val="000000">
                <a:alpha val="10000"/>
              </a:srgbClr>
            </a:outerShdw>
          </a:effectLst>
        </p:spPr>
      </p:sp>
      <p:sp>
        <p:nvSpPr>
          <p:cNvPr id="11" name="Text 8"/>
          <p:cNvSpPr txBox="1"/>
          <p:nvPr/>
        </p:nvSpPr>
        <p:spPr>
          <a:xfrm>
            <a:off x="8046720" y="4005072"/>
            <a:ext cx="3383280" cy="553212"/>
          </a:xfrm>
          <a:prstGeom prst="rect">
            <a:avLst/>
          </a:prstGeom>
          <a:noFill/>
          <a:ln/>
        </p:spPr>
        <p:txBody>
          <a:bodyPr wrap="square" lIns="0" tIns="0" rIns="0" bIns="0" rtlCol="0" anchor="ctr"/>
          <a:lstStyle/>
          <a:p>
            <a:pPr indent="0" marL="0">
              <a:buNone/>
            </a:pPr>
            <a:r>
              <a:rPr lang="en-US" sz="2800" b="1" dirty="0">
                <a:solidFill>
                  <a:srgbClr val="B03A2E"/>
                </a:solidFill>
                <a:latin typeface="Cambria" pitchFamily="34" charset="0"/>
                <a:ea typeface="Cambria" pitchFamily="34" charset="-122"/>
                <a:cs typeface="Cambria" pitchFamily="34" charset="-120"/>
              </a:rPr>
              <a:t>28</a:t>
            </a:r>
            <a:endParaRPr lang="en-US" sz="2800" dirty="0"/>
          </a:p>
        </p:txBody>
      </p:sp>
      <p:sp>
        <p:nvSpPr>
          <p:cNvPr id="12" name="Text 9"/>
          <p:cNvSpPr txBox="1"/>
          <p:nvPr/>
        </p:nvSpPr>
        <p:spPr>
          <a:xfrm>
            <a:off x="8046720" y="4518965"/>
            <a:ext cx="3383280" cy="331927"/>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records rejected</a:t>
            </a:r>
            <a:endParaRPr lang="en-US" sz="1200" dirty="0"/>
          </a:p>
        </p:txBody>
      </p:sp>
      <p:sp>
        <p:nvSpPr>
          <p:cNvPr id="13" name="Shape 10"/>
          <p:cNvSpPr/>
          <p:nvPr/>
        </p:nvSpPr>
        <p:spPr>
          <a:xfrm>
            <a:off x="7863840" y="5065776"/>
            <a:ext cx="3749040" cy="1005840"/>
          </a:xfrm>
          <a:prstGeom prst="roundRect">
            <a:avLst>
              <a:gd name="adj" fmla="val 6364"/>
            </a:avLst>
          </a:prstGeom>
          <a:solidFill>
            <a:srgbClr val="EAF3EC"/>
          </a:solidFill>
          <a:ln w="9525">
            <a:solidFill>
              <a:srgbClr val="EAF3EC"/>
            </a:solidFill>
            <a:prstDash val="solid"/>
          </a:ln>
          <a:effectLst>
            <a:outerShdw sx="100000" sy="100000" kx="0" ky="0" algn="bl" rotWithShape="0" blurRad="63500" dist="25400" dir="5400000">
              <a:srgbClr val="000000">
                <a:alpha val="10000"/>
              </a:srgbClr>
            </a:outerShdw>
          </a:effectLst>
        </p:spPr>
      </p:sp>
      <p:sp>
        <p:nvSpPr>
          <p:cNvPr id="14" name="Text 11"/>
          <p:cNvSpPr txBox="1"/>
          <p:nvPr/>
        </p:nvSpPr>
        <p:spPr>
          <a:xfrm>
            <a:off x="8046720" y="5175504"/>
            <a:ext cx="3383280" cy="553212"/>
          </a:xfrm>
          <a:prstGeom prst="rect">
            <a:avLst/>
          </a:prstGeom>
          <a:noFill/>
          <a:ln/>
        </p:spPr>
        <p:txBody>
          <a:bodyPr wrap="square" lIns="0" tIns="0" rIns="0" bIns="0" rtlCol="0" anchor="ctr"/>
          <a:lstStyle/>
          <a:p>
            <a:pPr indent="0" marL="0">
              <a:buNone/>
            </a:pPr>
            <a:r>
              <a:rPr lang="en-US" sz="2800" b="1" dirty="0">
                <a:solidFill>
                  <a:srgbClr val="3E7C4F"/>
                </a:solidFill>
                <a:latin typeface="Cambria" pitchFamily="34" charset="0"/>
                <a:ea typeface="Cambria" pitchFamily="34" charset="-122"/>
                <a:cs typeface="Cambria" pitchFamily="34" charset="-120"/>
              </a:rPr>
              <a:t>372</a:t>
            </a:r>
            <a:endParaRPr lang="en-US" sz="2800" dirty="0"/>
          </a:p>
        </p:txBody>
      </p:sp>
      <p:sp>
        <p:nvSpPr>
          <p:cNvPr id="15" name="Text 12"/>
          <p:cNvSpPr txBox="1"/>
          <p:nvPr/>
        </p:nvSpPr>
        <p:spPr>
          <a:xfrm>
            <a:off x="8046720" y="5689397"/>
            <a:ext cx="3383280" cy="331927"/>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late events kept and flagged</a:t>
            </a:r>
            <a:endParaRPr lang="en-US" sz="1200" dirty="0"/>
          </a:p>
        </p:txBody>
      </p:sp>
      <p:sp>
        <p:nvSpPr>
          <p:cNvPr id="16" name="Text 13"/>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Data Flow and Data Model</a:t>
            </a:r>
            <a:endParaRPr lang="en-US" sz="3200" dirty="0"/>
          </a:p>
        </p:txBody>
      </p:sp>
      <p:sp>
        <p:nvSpPr>
          <p:cNvPr id="3" name="Text 1"/>
          <p:cNvSpPr txBox="1"/>
          <p:nvPr/>
        </p:nvSpPr>
        <p:spPr>
          <a:xfrm>
            <a:off x="3749040" y="1417320"/>
            <a:ext cx="4617720" cy="320040"/>
          </a:xfrm>
          <a:prstGeom prst="rect">
            <a:avLst/>
          </a:prstGeom>
          <a:noFill/>
          <a:ln/>
        </p:spPr>
        <p:txBody>
          <a:bodyPr wrap="square" lIns="0" tIns="0" rIns="0" bIns="0" rtlCol="0" anchor="t"/>
          <a:lstStyle/>
          <a:p>
            <a:pPr algn="ctr" indent="0" marL="0">
              <a:buNone/>
            </a:pPr>
            <a:r>
              <a:rPr lang="en-US" sz="1200" b="1" dirty="0">
                <a:solidFill>
                  <a:srgbClr val="2F2A24"/>
                </a:solidFill>
                <a:latin typeface="Calibri" pitchFamily="34" charset="0"/>
                <a:ea typeface="Calibri" pitchFamily="34" charset="-122"/>
                <a:cs typeface="Calibri" pitchFamily="34" charset="-120"/>
              </a:rPr>
              <a:t>DuckDB — a SQL data warehouse in a single file</a:t>
            </a:r>
            <a:endParaRPr lang="en-US" sz="1200" dirty="0"/>
          </a:p>
        </p:txBody>
      </p:sp>
      <p:sp>
        <p:nvSpPr>
          <p:cNvPr id="4" name="Shape 2"/>
          <p:cNvSpPr/>
          <p:nvPr/>
        </p:nvSpPr>
        <p:spPr>
          <a:xfrm>
            <a:off x="548640" y="1783080"/>
            <a:ext cx="1417320" cy="1188720"/>
          </a:xfrm>
          <a:prstGeom prst="roundRect">
            <a:avLst>
              <a:gd name="adj" fmla="val 5385"/>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5" name="Text 3"/>
          <p:cNvSpPr txBox="1"/>
          <p:nvPr/>
        </p:nvSpPr>
        <p:spPr>
          <a:xfrm>
            <a:off x="640080" y="1892808"/>
            <a:ext cx="1234440" cy="365760"/>
          </a:xfrm>
          <a:prstGeom prst="rect">
            <a:avLst/>
          </a:prstGeom>
          <a:noFill/>
          <a:ln/>
        </p:spPr>
        <p:txBody>
          <a:bodyPr wrap="square" lIns="0" tIns="0" rIns="0" bIns="0" rtlCol="0" anchor="t"/>
          <a:lstStyle/>
          <a:p>
            <a:pPr algn="ctr" indent="0" marL="0">
              <a:buNone/>
            </a:pPr>
            <a:r>
              <a:rPr lang="en-US" sz="1500" b="1" dirty="0">
                <a:solidFill>
                  <a:srgbClr val="2F2A24"/>
                </a:solidFill>
                <a:latin typeface="Cambria" pitchFamily="34" charset="0"/>
                <a:ea typeface="Cambria" pitchFamily="34" charset="-122"/>
                <a:cs typeface="Cambria" pitchFamily="34" charset="-120"/>
              </a:rPr>
              <a:t>4 CSV files</a:t>
            </a:r>
            <a:endParaRPr lang="en-US" sz="1500" dirty="0"/>
          </a:p>
        </p:txBody>
      </p:sp>
      <p:sp>
        <p:nvSpPr>
          <p:cNvPr id="6" name="Text 4"/>
          <p:cNvSpPr txBox="1"/>
          <p:nvPr/>
        </p:nvSpPr>
        <p:spPr>
          <a:xfrm>
            <a:off x="640080" y="2313432"/>
            <a:ext cx="1234440" cy="594360"/>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transactions · settlements</a:t>
            </a:r>
            <a:endParaRPr lang="en-US" sz="1050" dirty="0"/>
          </a:p>
          <a:p>
            <a:pPr algn="ctr" indent="0" marL="0">
              <a:buNone/>
            </a:pPr>
            <a:r>
              <a:rPr lang="en-US" sz="1050" dirty="0">
                <a:solidFill>
                  <a:srgbClr val="6B6560"/>
                </a:solidFill>
                <a:latin typeface="Calibri" pitchFamily="34" charset="0"/>
                <a:ea typeface="Calibri" pitchFamily="34" charset="-122"/>
                <a:cs typeface="Calibri" pitchFamily="34" charset="-120"/>
              </a:rPr>
              <a:t>merchants · events</a:t>
            </a:r>
            <a:endParaRPr lang="en-US" sz="1050" dirty="0"/>
          </a:p>
        </p:txBody>
      </p:sp>
      <p:sp>
        <p:nvSpPr>
          <p:cNvPr id="7" name="Shape 5"/>
          <p:cNvSpPr/>
          <p:nvPr/>
        </p:nvSpPr>
        <p:spPr>
          <a:xfrm>
            <a:off x="1984248" y="2377440"/>
            <a:ext cx="146304" cy="0"/>
          </a:xfrm>
          <a:prstGeom prst="line">
            <a:avLst/>
          </a:prstGeom>
          <a:noFill/>
          <a:ln w="19050">
            <a:solidFill>
              <a:srgbClr val="6B6560"/>
            </a:solidFill>
            <a:prstDash val="solid"/>
            <a:tailEnd type="triangle"/>
          </a:ln>
        </p:spPr>
      </p:sp>
      <p:sp>
        <p:nvSpPr>
          <p:cNvPr id="8" name="Shape 6"/>
          <p:cNvSpPr/>
          <p:nvPr/>
        </p:nvSpPr>
        <p:spPr>
          <a:xfrm>
            <a:off x="2148840" y="1783080"/>
            <a:ext cx="1417320" cy="1188720"/>
          </a:xfrm>
          <a:prstGeom prst="roundRect">
            <a:avLst>
              <a:gd name="adj" fmla="val 5385"/>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9" name="Text 7"/>
          <p:cNvSpPr txBox="1"/>
          <p:nvPr/>
        </p:nvSpPr>
        <p:spPr>
          <a:xfrm>
            <a:off x="2240280" y="1892808"/>
            <a:ext cx="1234440" cy="365760"/>
          </a:xfrm>
          <a:prstGeom prst="rect">
            <a:avLst/>
          </a:prstGeom>
          <a:noFill/>
          <a:ln/>
        </p:spPr>
        <p:txBody>
          <a:bodyPr wrap="square" lIns="0" tIns="0" rIns="0" bIns="0" rtlCol="0" anchor="t"/>
          <a:lstStyle/>
          <a:p>
            <a:pPr algn="ctr" indent="0" marL="0">
              <a:buNone/>
            </a:pPr>
            <a:r>
              <a:rPr lang="en-US" sz="1500" b="1" dirty="0">
                <a:solidFill>
                  <a:srgbClr val="2F2A24"/>
                </a:solidFill>
                <a:latin typeface="Cambria" pitchFamily="34" charset="0"/>
                <a:ea typeface="Cambria" pitchFamily="34" charset="-122"/>
                <a:cs typeface="Cambria" pitchFamily="34" charset="-120"/>
              </a:rPr>
              <a:t>Ingestion</a:t>
            </a:r>
            <a:endParaRPr lang="en-US" sz="1500" dirty="0"/>
          </a:p>
        </p:txBody>
      </p:sp>
      <p:sp>
        <p:nvSpPr>
          <p:cNvPr id="10" name="Text 8"/>
          <p:cNvSpPr txBox="1"/>
          <p:nvPr/>
        </p:nvSpPr>
        <p:spPr>
          <a:xfrm>
            <a:off x="2240280" y="2313432"/>
            <a:ext cx="1234440" cy="594360"/>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Python loads</a:t>
            </a:r>
            <a:endParaRPr lang="en-US" sz="1050" dirty="0"/>
          </a:p>
          <a:p>
            <a:pPr algn="ctr" indent="0" marL="0">
              <a:buNone/>
            </a:pPr>
            <a:r>
              <a:rPr lang="en-US" sz="1050" dirty="0">
                <a:solidFill>
                  <a:srgbClr val="6B6560"/>
                </a:solidFill>
                <a:latin typeface="Calibri" pitchFamily="34" charset="0"/>
                <a:ea typeface="Calibri" pitchFamily="34" charset="-122"/>
                <a:cs typeface="Calibri" pitchFamily="34" charset="-120"/>
              </a:rPr>
              <a:t>new files only</a:t>
            </a:r>
            <a:endParaRPr lang="en-US" sz="1050" dirty="0"/>
          </a:p>
        </p:txBody>
      </p:sp>
      <p:sp>
        <p:nvSpPr>
          <p:cNvPr id="11" name="Shape 9"/>
          <p:cNvSpPr/>
          <p:nvPr/>
        </p:nvSpPr>
        <p:spPr>
          <a:xfrm>
            <a:off x="3584448" y="2377440"/>
            <a:ext cx="146304" cy="0"/>
          </a:xfrm>
          <a:prstGeom prst="line">
            <a:avLst/>
          </a:prstGeom>
          <a:noFill/>
          <a:ln w="19050">
            <a:solidFill>
              <a:srgbClr val="6B6560"/>
            </a:solidFill>
            <a:prstDash val="solid"/>
            <a:tailEnd type="triangle"/>
          </a:ln>
        </p:spPr>
      </p:sp>
      <p:sp>
        <p:nvSpPr>
          <p:cNvPr id="12" name="Shape 10"/>
          <p:cNvSpPr/>
          <p:nvPr/>
        </p:nvSpPr>
        <p:spPr>
          <a:xfrm>
            <a:off x="3749040" y="1783080"/>
            <a:ext cx="1417320" cy="1188720"/>
          </a:xfrm>
          <a:prstGeom prst="roundRect">
            <a:avLst>
              <a:gd name="adj" fmla="val 5385"/>
            </a:avLst>
          </a:prstGeom>
          <a:solidFill>
            <a:srgbClr val="2F2A24"/>
          </a:solidFill>
          <a:ln w="9525">
            <a:solidFill>
              <a:srgbClr val="2F2A24"/>
            </a:solidFill>
            <a:prstDash val="solid"/>
          </a:ln>
          <a:effectLst>
            <a:outerShdw sx="100000" sy="100000" kx="0" ky="0" algn="bl" rotWithShape="0" blurRad="63500" dist="25400" dir="5400000">
              <a:srgbClr val="000000">
                <a:alpha val="10000"/>
              </a:srgbClr>
            </a:outerShdw>
          </a:effectLst>
        </p:spPr>
      </p:sp>
      <p:sp>
        <p:nvSpPr>
          <p:cNvPr id="13" name="Text 11"/>
          <p:cNvSpPr txBox="1"/>
          <p:nvPr/>
        </p:nvSpPr>
        <p:spPr>
          <a:xfrm>
            <a:off x="3840480" y="1892808"/>
            <a:ext cx="1234440" cy="365760"/>
          </a:xfrm>
          <a:prstGeom prst="rect">
            <a:avLst/>
          </a:prstGeom>
          <a:noFill/>
          <a:ln/>
        </p:spPr>
        <p:txBody>
          <a:bodyPr wrap="square" lIns="0" tIns="0" rIns="0" bIns="0" rtlCol="0" anchor="t"/>
          <a:lstStyle/>
          <a:p>
            <a:pPr algn="ctr" indent="0" marL="0">
              <a:buNone/>
            </a:pPr>
            <a:r>
              <a:rPr lang="en-US" sz="1500" b="1" dirty="0">
                <a:solidFill>
                  <a:srgbClr val="F2A07B"/>
                </a:solidFill>
                <a:latin typeface="Cambria" pitchFamily="34" charset="0"/>
                <a:ea typeface="Cambria" pitchFamily="34" charset="-122"/>
                <a:cs typeface="Cambria" pitchFamily="34" charset="-120"/>
              </a:rPr>
              <a:t>Bronze</a:t>
            </a:r>
            <a:endParaRPr lang="en-US" sz="1500" dirty="0"/>
          </a:p>
        </p:txBody>
      </p:sp>
      <p:sp>
        <p:nvSpPr>
          <p:cNvPr id="14" name="Text 12"/>
          <p:cNvSpPr txBox="1"/>
          <p:nvPr/>
        </p:nvSpPr>
        <p:spPr>
          <a:xfrm>
            <a:off x="3840480" y="2313432"/>
            <a:ext cx="1234440" cy="59436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raw copy,</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nothing rejected</a:t>
            </a:r>
            <a:endParaRPr lang="en-US" sz="1050" dirty="0"/>
          </a:p>
        </p:txBody>
      </p:sp>
      <p:sp>
        <p:nvSpPr>
          <p:cNvPr id="15" name="Shape 13"/>
          <p:cNvSpPr/>
          <p:nvPr/>
        </p:nvSpPr>
        <p:spPr>
          <a:xfrm>
            <a:off x="5184648" y="2377440"/>
            <a:ext cx="146304" cy="0"/>
          </a:xfrm>
          <a:prstGeom prst="line">
            <a:avLst/>
          </a:prstGeom>
          <a:noFill/>
          <a:ln w="19050">
            <a:solidFill>
              <a:srgbClr val="6B6560"/>
            </a:solidFill>
            <a:prstDash val="solid"/>
            <a:tailEnd type="triangle"/>
          </a:ln>
        </p:spPr>
      </p:sp>
      <p:sp>
        <p:nvSpPr>
          <p:cNvPr id="16" name="Shape 14"/>
          <p:cNvSpPr/>
          <p:nvPr/>
        </p:nvSpPr>
        <p:spPr>
          <a:xfrm>
            <a:off x="5349240" y="1783080"/>
            <a:ext cx="1417320" cy="1188720"/>
          </a:xfrm>
          <a:prstGeom prst="roundRect">
            <a:avLst>
              <a:gd name="adj" fmla="val 5385"/>
            </a:avLst>
          </a:prstGeom>
          <a:solidFill>
            <a:srgbClr val="2F2A24"/>
          </a:solidFill>
          <a:ln w="9525">
            <a:solidFill>
              <a:srgbClr val="2F2A24"/>
            </a:solidFill>
            <a:prstDash val="solid"/>
          </a:ln>
          <a:effectLst>
            <a:outerShdw sx="100000" sy="100000" kx="0" ky="0" algn="bl" rotWithShape="0" blurRad="63500" dist="25400" dir="5400000">
              <a:srgbClr val="000000">
                <a:alpha val="10000"/>
              </a:srgbClr>
            </a:outerShdw>
          </a:effectLst>
        </p:spPr>
      </p:sp>
      <p:sp>
        <p:nvSpPr>
          <p:cNvPr id="17" name="Text 15"/>
          <p:cNvSpPr txBox="1"/>
          <p:nvPr/>
        </p:nvSpPr>
        <p:spPr>
          <a:xfrm>
            <a:off x="5440680" y="1892808"/>
            <a:ext cx="1234440" cy="365760"/>
          </a:xfrm>
          <a:prstGeom prst="rect">
            <a:avLst/>
          </a:prstGeom>
          <a:noFill/>
          <a:ln/>
        </p:spPr>
        <p:txBody>
          <a:bodyPr wrap="square" lIns="0" tIns="0" rIns="0" bIns="0" rtlCol="0" anchor="t"/>
          <a:lstStyle/>
          <a:p>
            <a:pPr algn="ctr" indent="0" marL="0">
              <a:buNone/>
            </a:pPr>
            <a:r>
              <a:rPr lang="en-US" sz="1500" b="1" dirty="0">
                <a:solidFill>
                  <a:srgbClr val="F2A07B"/>
                </a:solidFill>
                <a:latin typeface="Cambria" pitchFamily="34" charset="0"/>
                <a:ea typeface="Cambria" pitchFamily="34" charset="-122"/>
                <a:cs typeface="Cambria" pitchFamily="34" charset="-120"/>
              </a:rPr>
              <a:t>Silver</a:t>
            </a:r>
            <a:endParaRPr lang="en-US" sz="1500" dirty="0"/>
          </a:p>
        </p:txBody>
      </p:sp>
      <p:sp>
        <p:nvSpPr>
          <p:cNvPr id="18" name="Text 16"/>
          <p:cNvSpPr txBox="1"/>
          <p:nvPr/>
        </p:nvSpPr>
        <p:spPr>
          <a:xfrm>
            <a:off x="5440680" y="2313432"/>
            <a:ext cx="1234440" cy="59436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validated, typed,</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de-duplicated</a:t>
            </a:r>
            <a:endParaRPr lang="en-US" sz="1050" dirty="0"/>
          </a:p>
        </p:txBody>
      </p:sp>
      <p:sp>
        <p:nvSpPr>
          <p:cNvPr id="19" name="Shape 17"/>
          <p:cNvSpPr/>
          <p:nvPr/>
        </p:nvSpPr>
        <p:spPr>
          <a:xfrm>
            <a:off x="6784848" y="2377440"/>
            <a:ext cx="146304" cy="0"/>
          </a:xfrm>
          <a:prstGeom prst="line">
            <a:avLst/>
          </a:prstGeom>
          <a:noFill/>
          <a:ln w="19050">
            <a:solidFill>
              <a:srgbClr val="6B6560"/>
            </a:solidFill>
            <a:prstDash val="solid"/>
            <a:tailEnd type="triangle"/>
          </a:ln>
        </p:spPr>
      </p:sp>
      <p:sp>
        <p:nvSpPr>
          <p:cNvPr id="20" name="Shape 18"/>
          <p:cNvSpPr/>
          <p:nvPr/>
        </p:nvSpPr>
        <p:spPr>
          <a:xfrm>
            <a:off x="6949440" y="1783080"/>
            <a:ext cx="1417320" cy="1188720"/>
          </a:xfrm>
          <a:prstGeom prst="roundRect">
            <a:avLst>
              <a:gd name="adj" fmla="val 5385"/>
            </a:avLst>
          </a:prstGeom>
          <a:solidFill>
            <a:srgbClr val="2F2A24"/>
          </a:solidFill>
          <a:ln w="9525">
            <a:solidFill>
              <a:srgbClr val="2F2A24"/>
            </a:solidFill>
            <a:prstDash val="solid"/>
          </a:ln>
          <a:effectLst>
            <a:outerShdw sx="100000" sy="100000" kx="0" ky="0" algn="bl" rotWithShape="0" blurRad="63500" dist="25400" dir="5400000">
              <a:srgbClr val="000000">
                <a:alpha val="10000"/>
              </a:srgbClr>
            </a:outerShdw>
          </a:effectLst>
        </p:spPr>
      </p:sp>
      <p:sp>
        <p:nvSpPr>
          <p:cNvPr id="21" name="Text 19"/>
          <p:cNvSpPr txBox="1"/>
          <p:nvPr/>
        </p:nvSpPr>
        <p:spPr>
          <a:xfrm>
            <a:off x="7040880" y="1892808"/>
            <a:ext cx="1234440" cy="365760"/>
          </a:xfrm>
          <a:prstGeom prst="rect">
            <a:avLst/>
          </a:prstGeom>
          <a:noFill/>
          <a:ln/>
        </p:spPr>
        <p:txBody>
          <a:bodyPr wrap="square" lIns="0" tIns="0" rIns="0" bIns="0" rtlCol="0" anchor="t"/>
          <a:lstStyle/>
          <a:p>
            <a:pPr algn="ctr" indent="0" marL="0">
              <a:buNone/>
            </a:pPr>
            <a:r>
              <a:rPr lang="en-US" sz="1500" b="1" dirty="0">
                <a:solidFill>
                  <a:srgbClr val="F2A07B"/>
                </a:solidFill>
                <a:latin typeface="Cambria" pitchFamily="34" charset="0"/>
                <a:ea typeface="Cambria" pitchFamily="34" charset="-122"/>
                <a:cs typeface="Cambria" pitchFamily="34" charset="-120"/>
              </a:rPr>
              <a:t>Gold</a:t>
            </a:r>
            <a:endParaRPr lang="en-US" sz="1500" dirty="0"/>
          </a:p>
        </p:txBody>
      </p:sp>
      <p:sp>
        <p:nvSpPr>
          <p:cNvPr id="22" name="Text 20"/>
          <p:cNvSpPr txBox="1"/>
          <p:nvPr/>
        </p:nvSpPr>
        <p:spPr>
          <a:xfrm>
            <a:off x="7040880" y="2313432"/>
            <a:ext cx="1234440" cy="59436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star schema +</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daily KPI table</a:t>
            </a:r>
            <a:endParaRPr lang="en-US" sz="1050" dirty="0"/>
          </a:p>
        </p:txBody>
      </p:sp>
      <p:sp>
        <p:nvSpPr>
          <p:cNvPr id="23" name="Shape 21"/>
          <p:cNvSpPr/>
          <p:nvPr/>
        </p:nvSpPr>
        <p:spPr>
          <a:xfrm>
            <a:off x="8385048" y="2377440"/>
            <a:ext cx="146304" cy="0"/>
          </a:xfrm>
          <a:prstGeom prst="line">
            <a:avLst/>
          </a:prstGeom>
          <a:noFill/>
          <a:ln w="19050">
            <a:solidFill>
              <a:srgbClr val="6B6560"/>
            </a:solidFill>
            <a:prstDash val="solid"/>
            <a:tailEnd type="triangle"/>
          </a:ln>
        </p:spPr>
      </p:sp>
      <p:sp>
        <p:nvSpPr>
          <p:cNvPr id="24" name="Shape 22"/>
          <p:cNvSpPr/>
          <p:nvPr/>
        </p:nvSpPr>
        <p:spPr>
          <a:xfrm>
            <a:off x="8549640" y="1783080"/>
            <a:ext cx="1417320" cy="1188720"/>
          </a:xfrm>
          <a:prstGeom prst="roundRect">
            <a:avLst>
              <a:gd name="adj" fmla="val 5385"/>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25" name="Text 23"/>
          <p:cNvSpPr txBox="1"/>
          <p:nvPr/>
        </p:nvSpPr>
        <p:spPr>
          <a:xfrm>
            <a:off x="8641080" y="1892808"/>
            <a:ext cx="1234440" cy="365760"/>
          </a:xfrm>
          <a:prstGeom prst="rect">
            <a:avLst/>
          </a:prstGeom>
          <a:noFill/>
          <a:ln/>
        </p:spPr>
        <p:txBody>
          <a:bodyPr wrap="square" lIns="0" tIns="0" rIns="0" bIns="0" rtlCol="0" anchor="t"/>
          <a:lstStyle/>
          <a:p>
            <a:pPr algn="ctr" indent="0" marL="0">
              <a:buNone/>
            </a:pPr>
            <a:r>
              <a:rPr lang="en-US" sz="1500" b="1" dirty="0">
                <a:solidFill>
                  <a:srgbClr val="2F2A24"/>
                </a:solidFill>
                <a:latin typeface="Cambria" pitchFamily="34" charset="0"/>
                <a:ea typeface="Cambria" pitchFamily="34" charset="-122"/>
                <a:cs typeface="Cambria" pitchFamily="34" charset="-120"/>
              </a:rPr>
              <a:t>FastAPI</a:t>
            </a:r>
            <a:endParaRPr lang="en-US" sz="1500" dirty="0"/>
          </a:p>
        </p:txBody>
      </p:sp>
      <p:sp>
        <p:nvSpPr>
          <p:cNvPr id="26" name="Text 24"/>
          <p:cNvSpPr txBox="1"/>
          <p:nvPr/>
        </p:nvSpPr>
        <p:spPr>
          <a:xfrm>
            <a:off x="8641080" y="2313432"/>
            <a:ext cx="1234440" cy="594360"/>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read-only,</a:t>
            </a:r>
            <a:endParaRPr lang="en-US" sz="1050" dirty="0"/>
          </a:p>
          <a:p>
            <a:pPr algn="ctr" indent="0" marL="0">
              <a:buNone/>
            </a:pPr>
            <a:r>
              <a:rPr lang="en-US" sz="1050" dirty="0">
                <a:solidFill>
                  <a:srgbClr val="6B6560"/>
                </a:solidFill>
                <a:latin typeface="Calibri" pitchFamily="34" charset="0"/>
                <a:ea typeface="Calibri" pitchFamily="34" charset="-122"/>
                <a:cs typeface="Calibri" pitchFamily="34" charset="-120"/>
              </a:rPr>
              <a:t>API-key secured</a:t>
            </a:r>
            <a:endParaRPr lang="en-US" sz="1050" dirty="0"/>
          </a:p>
        </p:txBody>
      </p:sp>
      <p:sp>
        <p:nvSpPr>
          <p:cNvPr id="27" name="Shape 25"/>
          <p:cNvSpPr/>
          <p:nvPr/>
        </p:nvSpPr>
        <p:spPr>
          <a:xfrm>
            <a:off x="9985248" y="2377440"/>
            <a:ext cx="146304" cy="0"/>
          </a:xfrm>
          <a:prstGeom prst="line">
            <a:avLst/>
          </a:prstGeom>
          <a:noFill/>
          <a:ln w="19050">
            <a:solidFill>
              <a:srgbClr val="6B6560"/>
            </a:solidFill>
            <a:prstDash val="solid"/>
            <a:tailEnd type="triangle"/>
          </a:ln>
        </p:spPr>
      </p:sp>
      <p:sp>
        <p:nvSpPr>
          <p:cNvPr id="28" name="Shape 26"/>
          <p:cNvSpPr/>
          <p:nvPr/>
        </p:nvSpPr>
        <p:spPr>
          <a:xfrm>
            <a:off x="10149840" y="1783080"/>
            <a:ext cx="1417320" cy="1188720"/>
          </a:xfrm>
          <a:prstGeom prst="roundRect">
            <a:avLst>
              <a:gd name="adj" fmla="val 5385"/>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29" name="Text 27"/>
          <p:cNvSpPr txBox="1"/>
          <p:nvPr/>
        </p:nvSpPr>
        <p:spPr>
          <a:xfrm>
            <a:off x="10241280" y="1892808"/>
            <a:ext cx="1234440" cy="365760"/>
          </a:xfrm>
          <a:prstGeom prst="rect">
            <a:avLst/>
          </a:prstGeom>
          <a:noFill/>
          <a:ln/>
        </p:spPr>
        <p:txBody>
          <a:bodyPr wrap="square" lIns="0" tIns="0" rIns="0" bIns="0" rtlCol="0" anchor="t"/>
          <a:lstStyle/>
          <a:p>
            <a:pPr algn="ctr" indent="0" marL="0">
              <a:buNone/>
            </a:pPr>
            <a:r>
              <a:rPr lang="en-US" sz="1500" b="1" dirty="0">
                <a:solidFill>
                  <a:srgbClr val="2F2A24"/>
                </a:solidFill>
                <a:latin typeface="Cambria" pitchFamily="34" charset="0"/>
                <a:ea typeface="Cambria" pitchFamily="34" charset="-122"/>
                <a:cs typeface="Cambria" pitchFamily="34" charset="-120"/>
              </a:rPr>
              <a:t>Dashboard</a:t>
            </a:r>
            <a:endParaRPr lang="en-US" sz="1500" dirty="0"/>
          </a:p>
        </p:txBody>
      </p:sp>
      <p:sp>
        <p:nvSpPr>
          <p:cNvPr id="30" name="Text 28"/>
          <p:cNvSpPr txBox="1"/>
          <p:nvPr/>
        </p:nvSpPr>
        <p:spPr>
          <a:xfrm>
            <a:off x="10241280" y="2313432"/>
            <a:ext cx="1234440" cy="594360"/>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HTML / JS</a:t>
            </a:r>
            <a:endParaRPr lang="en-US" sz="1050" dirty="0"/>
          </a:p>
          <a:p>
            <a:pPr algn="ctr" indent="0" marL="0">
              <a:buNone/>
            </a:pPr>
            <a:r>
              <a:rPr lang="en-US" sz="1050" dirty="0">
                <a:solidFill>
                  <a:srgbClr val="6B6560"/>
                </a:solidFill>
                <a:latin typeface="Calibri" pitchFamily="34" charset="0"/>
                <a:ea typeface="Calibri" pitchFamily="34" charset="-122"/>
                <a:cs typeface="Calibri" pitchFamily="34" charset="-120"/>
              </a:rPr>
              <a:t>KPIs + charts</a:t>
            </a:r>
            <a:endParaRPr lang="en-US" sz="1050" dirty="0"/>
          </a:p>
        </p:txBody>
      </p:sp>
      <p:sp>
        <p:nvSpPr>
          <p:cNvPr id="31" name="Text 29"/>
          <p:cNvSpPr txBox="1"/>
          <p:nvPr/>
        </p:nvSpPr>
        <p:spPr>
          <a:xfrm>
            <a:off x="548640" y="3246120"/>
            <a:ext cx="7315200" cy="320040"/>
          </a:xfrm>
          <a:prstGeom prst="rect">
            <a:avLst/>
          </a:prstGeom>
          <a:noFill/>
          <a:ln/>
        </p:spPr>
        <p:txBody>
          <a:bodyPr wrap="square" lIns="0" tIns="0" rIns="0" bIns="0" rtlCol="0" anchor="t"/>
          <a:lstStyle/>
          <a:p>
            <a:pPr indent="0" marL="0">
              <a:buNone/>
            </a:pPr>
            <a:r>
              <a:rPr lang="en-US" sz="1400" b="1" dirty="0">
                <a:solidFill>
                  <a:srgbClr val="2F2A24"/>
                </a:solidFill>
                <a:latin typeface="Cambria" pitchFamily="34" charset="0"/>
                <a:ea typeface="Cambria" pitchFamily="34" charset="-122"/>
                <a:cs typeface="Cambria" pitchFamily="34" charset="-120"/>
              </a:rPr>
              <a:t>Gold layer — star schema (grain = what one row means)</a:t>
            </a:r>
            <a:endParaRPr lang="en-US" sz="1400" dirty="0"/>
          </a:p>
        </p:txBody>
      </p:sp>
      <p:sp>
        <p:nvSpPr>
          <p:cNvPr id="32" name="Shape 30"/>
          <p:cNvSpPr/>
          <p:nvPr/>
        </p:nvSpPr>
        <p:spPr>
          <a:xfrm>
            <a:off x="2926080" y="4572000"/>
            <a:ext cx="2377440" cy="640080"/>
          </a:xfrm>
          <a:prstGeom prst="roundRect">
            <a:avLst>
              <a:gd name="adj" fmla="val 10000"/>
            </a:avLst>
          </a:prstGeom>
          <a:solidFill>
            <a:srgbClr val="2F2A24"/>
          </a:solidFill>
          <a:ln w="9525">
            <a:solidFill>
              <a:srgbClr val="2F2A24"/>
            </a:solidFill>
            <a:prstDash val="solid"/>
          </a:ln>
          <a:effectLst>
            <a:outerShdw sx="100000" sy="100000" kx="0" ky="0" algn="bl" rotWithShape="0" blurRad="63500" dist="25400" dir="5400000">
              <a:srgbClr val="000000">
                <a:alpha val="10000"/>
              </a:srgbClr>
            </a:outerShdw>
          </a:effectLst>
        </p:spPr>
      </p:sp>
      <p:sp>
        <p:nvSpPr>
          <p:cNvPr id="33" name="Text 31"/>
          <p:cNvSpPr txBox="1"/>
          <p:nvPr/>
        </p:nvSpPr>
        <p:spPr>
          <a:xfrm>
            <a:off x="2926080" y="4572000"/>
            <a:ext cx="2377440"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fact_transaction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one payment attempt</a:t>
            </a:r>
            <a:endParaRPr lang="en-US" sz="1150" dirty="0"/>
          </a:p>
        </p:txBody>
      </p:sp>
      <p:sp>
        <p:nvSpPr>
          <p:cNvPr id="34" name="Shape 32"/>
          <p:cNvSpPr/>
          <p:nvPr/>
        </p:nvSpPr>
        <p:spPr>
          <a:xfrm>
            <a:off x="548640" y="3657600"/>
            <a:ext cx="2377440" cy="685800"/>
          </a:xfrm>
          <a:prstGeom prst="roundRect">
            <a:avLst>
              <a:gd name="adj" fmla="val 9333"/>
            </a:avLst>
          </a:prstGeom>
          <a:solidFill>
            <a:srgbClr val="F4F3F0"/>
          </a:solidFill>
          <a:ln w="9525">
            <a:solidFill>
              <a:srgbClr val="F4F3F0"/>
            </a:solidFill>
            <a:prstDash val="solid"/>
          </a:ln>
        </p:spPr>
      </p:sp>
      <p:sp>
        <p:nvSpPr>
          <p:cNvPr id="35" name="Text 33"/>
          <p:cNvSpPr txBox="1"/>
          <p:nvPr/>
        </p:nvSpPr>
        <p:spPr>
          <a:xfrm>
            <a:off x="548640" y="3730752"/>
            <a:ext cx="2377440" cy="274320"/>
          </a:xfrm>
          <a:prstGeom prst="rect">
            <a:avLst/>
          </a:prstGeom>
          <a:noFill/>
          <a:ln/>
        </p:spPr>
        <p:txBody>
          <a:bodyPr wrap="square" lIns="0" tIns="0" rIns="0" bIns="0" rtlCol="0" anchor="t"/>
          <a:lstStyle/>
          <a:p>
            <a:pPr algn="ctr" indent="0" marL="0">
              <a:buNone/>
            </a:pPr>
            <a:r>
              <a:rPr lang="en-US" sz="1200" b="1" dirty="0">
                <a:solidFill>
                  <a:srgbClr val="2F2A24"/>
                </a:solidFill>
                <a:latin typeface="Calibri" pitchFamily="34" charset="0"/>
                <a:ea typeface="Calibri" pitchFamily="34" charset="-122"/>
                <a:cs typeface="Calibri" pitchFamily="34" charset="-120"/>
              </a:rPr>
              <a:t>dim_date</a:t>
            </a:r>
            <a:endParaRPr lang="en-US" sz="1200" dirty="0"/>
          </a:p>
        </p:txBody>
      </p:sp>
      <p:sp>
        <p:nvSpPr>
          <p:cNvPr id="36" name="Text 34"/>
          <p:cNvSpPr txBox="1"/>
          <p:nvPr/>
        </p:nvSpPr>
        <p:spPr>
          <a:xfrm>
            <a:off x="548640" y="4023360"/>
            <a:ext cx="2377440" cy="256032"/>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one day</a:t>
            </a:r>
            <a:endParaRPr lang="en-US" sz="1050" dirty="0"/>
          </a:p>
        </p:txBody>
      </p:sp>
      <p:sp>
        <p:nvSpPr>
          <p:cNvPr id="37" name="Shape 35"/>
          <p:cNvSpPr/>
          <p:nvPr/>
        </p:nvSpPr>
        <p:spPr>
          <a:xfrm>
            <a:off x="1737360" y="4343400"/>
            <a:ext cx="2377440" cy="228600"/>
          </a:xfrm>
          <a:prstGeom prst="line">
            <a:avLst/>
          </a:prstGeom>
          <a:noFill/>
          <a:ln w="15875">
            <a:solidFill>
              <a:srgbClr val="DDD9D2"/>
            </a:solidFill>
            <a:prstDash val="solid"/>
          </a:ln>
        </p:spPr>
      </p:sp>
      <p:sp>
        <p:nvSpPr>
          <p:cNvPr id="38" name="Shape 36"/>
          <p:cNvSpPr/>
          <p:nvPr/>
        </p:nvSpPr>
        <p:spPr>
          <a:xfrm>
            <a:off x="2926080" y="3657600"/>
            <a:ext cx="2377440" cy="685800"/>
          </a:xfrm>
          <a:prstGeom prst="roundRect">
            <a:avLst>
              <a:gd name="adj" fmla="val 9333"/>
            </a:avLst>
          </a:prstGeom>
          <a:solidFill>
            <a:srgbClr val="F4F3F0"/>
          </a:solidFill>
          <a:ln w="9525">
            <a:solidFill>
              <a:srgbClr val="F4F3F0"/>
            </a:solidFill>
            <a:prstDash val="solid"/>
          </a:ln>
        </p:spPr>
      </p:sp>
      <p:sp>
        <p:nvSpPr>
          <p:cNvPr id="39" name="Text 37"/>
          <p:cNvSpPr txBox="1"/>
          <p:nvPr/>
        </p:nvSpPr>
        <p:spPr>
          <a:xfrm>
            <a:off x="2926080" y="3730752"/>
            <a:ext cx="2377440" cy="274320"/>
          </a:xfrm>
          <a:prstGeom prst="rect">
            <a:avLst/>
          </a:prstGeom>
          <a:noFill/>
          <a:ln/>
        </p:spPr>
        <p:txBody>
          <a:bodyPr wrap="square" lIns="0" tIns="0" rIns="0" bIns="0" rtlCol="0" anchor="t"/>
          <a:lstStyle/>
          <a:p>
            <a:pPr algn="ctr" indent="0" marL="0">
              <a:buNone/>
            </a:pPr>
            <a:r>
              <a:rPr lang="en-US" sz="1200" b="1" dirty="0">
                <a:solidFill>
                  <a:srgbClr val="2F2A24"/>
                </a:solidFill>
                <a:latin typeface="Calibri" pitchFamily="34" charset="0"/>
                <a:ea typeface="Calibri" pitchFamily="34" charset="-122"/>
                <a:cs typeface="Calibri" pitchFamily="34" charset="-120"/>
              </a:rPr>
              <a:t>dim_merchant (SCD2)</a:t>
            </a:r>
            <a:endParaRPr lang="en-US" sz="1200" dirty="0"/>
          </a:p>
        </p:txBody>
      </p:sp>
      <p:sp>
        <p:nvSpPr>
          <p:cNvPr id="40" name="Text 38"/>
          <p:cNvSpPr txBox="1"/>
          <p:nvPr/>
        </p:nvSpPr>
        <p:spPr>
          <a:xfrm>
            <a:off x="2926080" y="4023360"/>
            <a:ext cx="2377440" cy="256032"/>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one merchant per risk period</a:t>
            </a:r>
            <a:endParaRPr lang="en-US" sz="1050" dirty="0"/>
          </a:p>
        </p:txBody>
      </p:sp>
      <p:sp>
        <p:nvSpPr>
          <p:cNvPr id="41" name="Shape 39"/>
          <p:cNvSpPr/>
          <p:nvPr/>
        </p:nvSpPr>
        <p:spPr>
          <a:xfrm>
            <a:off x="4114800" y="4343400"/>
            <a:ext cx="0" cy="228600"/>
          </a:xfrm>
          <a:prstGeom prst="line">
            <a:avLst/>
          </a:prstGeom>
          <a:noFill/>
          <a:ln w="15875">
            <a:solidFill>
              <a:srgbClr val="DDD9D2"/>
            </a:solidFill>
            <a:prstDash val="solid"/>
          </a:ln>
        </p:spPr>
      </p:sp>
      <p:sp>
        <p:nvSpPr>
          <p:cNvPr id="42" name="Shape 40"/>
          <p:cNvSpPr/>
          <p:nvPr/>
        </p:nvSpPr>
        <p:spPr>
          <a:xfrm>
            <a:off x="5303520" y="3657600"/>
            <a:ext cx="2377440" cy="685800"/>
          </a:xfrm>
          <a:prstGeom prst="roundRect">
            <a:avLst>
              <a:gd name="adj" fmla="val 9333"/>
            </a:avLst>
          </a:prstGeom>
          <a:solidFill>
            <a:srgbClr val="F4F3F0"/>
          </a:solidFill>
          <a:ln w="9525">
            <a:solidFill>
              <a:srgbClr val="F4F3F0"/>
            </a:solidFill>
            <a:prstDash val="solid"/>
          </a:ln>
        </p:spPr>
      </p:sp>
      <p:sp>
        <p:nvSpPr>
          <p:cNvPr id="43" name="Text 41"/>
          <p:cNvSpPr txBox="1"/>
          <p:nvPr/>
        </p:nvSpPr>
        <p:spPr>
          <a:xfrm>
            <a:off x="5303520" y="3730752"/>
            <a:ext cx="2377440" cy="274320"/>
          </a:xfrm>
          <a:prstGeom prst="rect">
            <a:avLst/>
          </a:prstGeom>
          <a:noFill/>
          <a:ln/>
        </p:spPr>
        <p:txBody>
          <a:bodyPr wrap="square" lIns="0" tIns="0" rIns="0" bIns="0" rtlCol="0" anchor="t"/>
          <a:lstStyle/>
          <a:p>
            <a:pPr algn="ctr" indent="0" marL="0">
              <a:buNone/>
            </a:pPr>
            <a:r>
              <a:rPr lang="en-US" sz="1200" b="1" dirty="0">
                <a:solidFill>
                  <a:srgbClr val="2F2A24"/>
                </a:solidFill>
                <a:latin typeface="Calibri" pitchFamily="34" charset="0"/>
                <a:ea typeface="Calibri" pitchFamily="34" charset="-122"/>
                <a:cs typeface="Calibri" pitchFamily="34" charset="-120"/>
              </a:rPr>
              <a:t>dim_customer</a:t>
            </a:r>
            <a:endParaRPr lang="en-US" sz="1200" dirty="0"/>
          </a:p>
        </p:txBody>
      </p:sp>
      <p:sp>
        <p:nvSpPr>
          <p:cNvPr id="44" name="Text 42"/>
          <p:cNvSpPr txBox="1"/>
          <p:nvPr/>
        </p:nvSpPr>
        <p:spPr>
          <a:xfrm>
            <a:off x="5303520" y="4023360"/>
            <a:ext cx="2377440" cy="256032"/>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one hashed customer</a:t>
            </a:r>
            <a:endParaRPr lang="en-US" sz="1050" dirty="0"/>
          </a:p>
        </p:txBody>
      </p:sp>
      <p:sp>
        <p:nvSpPr>
          <p:cNvPr id="45" name="Shape 43"/>
          <p:cNvSpPr/>
          <p:nvPr/>
        </p:nvSpPr>
        <p:spPr>
          <a:xfrm flipH="1">
            <a:off x="4114800" y="4343400"/>
            <a:ext cx="2377440" cy="228600"/>
          </a:xfrm>
          <a:prstGeom prst="line">
            <a:avLst/>
          </a:prstGeom>
          <a:noFill/>
          <a:ln w="15875">
            <a:solidFill>
              <a:srgbClr val="DDD9D2"/>
            </a:solidFill>
            <a:prstDash val="solid"/>
          </a:ln>
        </p:spPr>
      </p:sp>
      <p:sp>
        <p:nvSpPr>
          <p:cNvPr id="46" name="Shape 44"/>
          <p:cNvSpPr/>
          <p:nvPr/>
        </p:nvSpPr>
        <p:spPr>
          <a:xfrm>
            <a:off x="548640" y="5486400"/>
            <a:ext cx="2377440" cy="685800"/>
          </a:xfrm>
          <a:prstGeom prst="roundRect">
            <a:avLst>
              <a:gd name="adj" fmla="val 9333"/>
            </a:avLst>
          </a:prstGeom>
          <a:solidFill>
            <a:srgbClr val="F4F3F0"/>
          </a:solidFill>
          <a:ln w="9525">
            <a:solidFill>
              <a:srgbClr val="F4F3F0"/>
            </a:solidFill>
            <a:prstDash val="solid"/>
          </a:ln>
        </p:spPr>
      </p:sp>
      <p:sp>
        <p:nvSpPr>
          <p:cNvPr id="47" name="Text 45"/>
          <p:cNvSpPr txBox="1"/>
          <p:nvPr/>
        </p:nvSpPr>
        <p:spPr>
          <a:xfrm>
            <a:off x="548640" y="5559552"/>
            <a:ext cx="2377440" cy="274320"/>
          </a:xfrm>
          <a:prstGeom prst="rect">
            <a:avLst/>
          </a:prstGeom>
          <a:noFill/>
          <a:ln/>
        </p:spPr>
        <p:txBody>
          <a:bodyPr wrap="square" lIns="0" tIns="0" rIns="0" bIns="0" rtlCol="0" anchor="t"/>
          <a:lstStyle/>
          <a:p>
            <a:pPr algn="ctr" indent="0" marL="0">
              <a:buNone/>
            </a:pPr>
            <a:r>
              <a:rPr lang="en-US" sz="1200" b="1" dirty="0">
                <a:solidFill>
                  <a:srgbClr val="2F2A24"/>
                </a:solidFill>
                <a:latin typeface="Calibri" pitchFamily="34" charset="0"/>
                <a:ea typeface="Calibri" pitchFamily="34" charset="-122"/>
                <a:cs typeface="Calibri" pitchFamily="34" charset="-120"/>
              </a:rPr>
              <a:t>fact_settlement</a:t>
            </a:r>
            <a:endParaRPr lang="en-US" sz="1200" dirty="0"/>
          </a:p>
        </p:txBody>
      </p:sp>
      <p:sp>
        <p:nvSpPr>
          <p:cNvPr id="48" name="Text 46"/>
          <p:cNvSpPr txBox="1"/>
          <p:nvPr/>
        </p:nvSpPr>
        <p:spPr>
          <a:xfrm>
            <a:off x="548640" y="5852160"/>
            <a:ext cx="2377440" cy="256032"/>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one settlement record</a:t>
            </a:r>
            <a:endParaRPr lang="en-US" sz="1050" dirty="0"/>
          </a:p>
        </p:txBody>
      </p:sp>
      <p:sp>
        <p:nvSpPr>
          <p:cNvPr id="49" name="Shape 47"/>
          <p:cNvSpPr/>
          <p:nvPr/>
        </p:nvSpPr>
        <p:spPr>
          <a:xfrm flipH="1">
            <a:off x="1737360" y="5212080"/>
            <a:ext cx="2377440" cy="274320"/>
          </a:xfrm>
          <a:prstGeom prst="line">
            <a:avLst/>
          </a:prstGeom>
          <a:noFill/>
          <a:ln w="15875">
            <a:solidFill>
              <a:srgbClr val="DDD9D2"/>
            </a:solidFill>
            <a:prstDash val="solid"/>
          </a:ln>
        </p:spPr>
      </p:sp>
      <p:sp>
        <p:nvSpPr>
          <p:cNvPr id="50" name="Shape 48"/>
          <p:cNvSpPr/>
          <p:nvPr/>
        </p:nvSpPr>
        <p:spPr>
          <a:xfrm>
            <a:off x="2926080" y="5486400"/>
            <a:ext cx="2377440" cy="685800"/>
          </a:xfrm>
          <a:prstGeom prst="roundRect">
            <a:avLst>
              <a:gd name="adj" fmla="val 9333"/>
            </a:avLst>
          </a:prstGeom>
          <a:solidFill>
            <a:srgbClr val="F4F3F0"/>
          </a:solidFill>
          <a:ln w="9525">
            <a:solidFill>
              <a:srgbClr val="F4F3F0"/>
            </a:solidFill>
            <a:prstDash val="solid"/>
          </a:ln>
        </p:spPr>
      </p:sp>
      <p:sp>
        <p:nvSpPr>
          <p:cNvPr id="51" name="Text 49"/>
          <p:cNvSpPr txBox="1"/>
          <p:nvPr/>
        </p:nvSpPr>
        <p:spPr>
          <a:xfrm>
            <a:off x="2926080" y="5559552"/>
            <a:ext cx="2377440" cy="274320"/>
          </a:xfrm>
          <a:prstGeom prst="rect">
            <a:avLst/>
          </a:prstGeom>
          <a:noFill/>
          <a:ln/>
        </p:spPr>
        <p:txBody>
          <a:bodyPr wrap="square" lIns="0" tIns="0" rIns="0" bIns="0" rtlCol="0" anchor="t"/>
          <a:lstStyle/>
          <a:p>
            <a:pPr algn="ctr" indent="0" marL="0">
              <a:buNone/>
            </a:pPr>
            <a:r>
              <a:rPr lang="en-US" sz="1200" b="1" dirty="0">
                <a:solidFill>
                  <a:srgbClr val="2F2A24"/>
                </a:solidFill>
                <a:latin typeface="Calibri" pitchFamily="34" charset="0"/>
                <a:ea typeface="Calibri" pitchFamily="34" charset="-122"/>
                <a:cs typeface="Calibri" pitchFamily="34" charset="-120"/>
              </a:rPr>
              <a:t>fact_payment_event</a:t>
            </a:r>
            <a:endParaRPr lang="en-US" sz="1200" dirty="0"/>
          </a:p>
        </p:txBody>
      </p:sp>
      <p:sp>
        <p:nvSpPr>
          <p:cNvPr id="52" name="Text 50"/>
          <p:cNvSpPr txBox="1"/>
          <p:nvPr/>
        </p:nvSpPr>
        <p:spPr>
          <a:xfrm>
            <a:off x="2926080" y="5852160"/>
            <a:ext cx="2377440" cy="256032"/>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one lifecycle event</a:t>
            </a:r>
            <a:endParaRPr lang="en-US" sz="1050" dirty="0"/>
          </a:p>
        </p:txBody>
      </p:sp>
      <p:sp>
        <p:nvSpPr>
          <p:cNvPr id="53" name="Shape 51"/>
          <p:cNvSpPr/>
          <p:nvPr/>
        </p:nvSpPr>
        <p:spPr>
          <a:xfrm>
            <a:off x="4114800" y="5212080"/>
            <a:ext cx="0" cy="274320"/>
          </a:xfrm>
          <a:prstGeom prst="line">
            <a:avLst/>
          </a:prstGeom>
          <a:noFill/>
          <a:ln w="15875">
            <a:solidFill>
              <a:srgbClr val="DDD9D2"/>
            </a:solidFill>
            <a:prstDash val="solid"/>
          </a:ln>
        </p:spPr>
      </p:sp>
      <p:sp>
        <p:nvSpPr>
          <p:cNvPr id="54" name="Shape 52"/>
          <p:cNvSpPr/>
          <p:nvPr/>
        </p:nvSpPr>
        <p:spPr>
          <a:xfrm>
            <a:off x="5303520" y="5486400"/>
            <a:ext cx="2377440" cy="685800"/>
          </a:xfrm>
          <a:prstGeom prst="roundRect">
            <a:avLst>
              <a:gd name="adj" fmla="val 9333"/>
            </a:avLst>
          </a:prstGeom>
          <a:solidFill>
            <a:srgbClr val="F4F3F0"/>
          </a:solidFill>
          <a:ln w="9525">
            <a:solidFill>
              <a:srgbClr val="F4F3F0"/>
            </a:solidFill>
            <a:prstDash val="solid"/>
          </a:ln>
        </p:spPr>
      </p:sp>
      <p:sp>
        <p:nvSpPr>
          <p:cNvPr id="55" name="Text 53"/>
          <p:cNvSpPr txBox="1"/>
          <p:nvPr/>
        </p:nvSpPr>
        <p:spPr>
          <a:xfrm>
            <a:off x="5303520" y="5559552"/>
            <a:ext cx="2377440" cy="274320"/>
          </a:xfrm>
          <a:prstGeom prst="rect">
            <a:avLst/>
          </a:prstGeom>
          <a:noFill/>
          <a:ln/>
        </p:spPr>
        <p:txBody>
          <a:bodyPr wrap="square" lIns="0" tIns="0" rIns="0" bIns="0" rtlCol="0" anchor="t"/>
          <a:lstStyle/>
          <a:p>
            <a:pPr algn="ctr" indent="0" marL="0">
              <a:buNone/>
            </a:pPr>
            <a:r>
              <a:rPr lang="en-US" sz="1200" b="1" dirty="0">
                <a:solidFill>
                  <a:srgbClr val="2F2A24"/>
                </a:solidFill>
                <a:latin typeface="Calibri" pitchFamily="34" charset="0"/>
                <a:ea typeface="Calibri" pitchFamily="34" charset="-122"/>
                <a:cs typeface="Calibri" pitchFamily="34" charset="-120"/>
              </a:rPr>
              <a:t>agg_merchant_daily</a:t>
            </a:r>
            <a:endParaRPr lang="en-US" sz="1200" dirty="0"/>
          </a:p>
        </p:txBody>
      </p:sp>
      <p:sp>
        <p:nvSpPr>
          <p:cNvPr id="56" name="Text 54"/>
          <p:cNvSpPr txBox="1"/>
          <p:nvPr/>
        </p:nvSpPr>
        <p:spPr>
          <a:xfrm>
            <a:off x="5303520" y="5852160"/>
            <a:ext cx="2377440" cy="256032"/>
          </a:xfrm>
          <a:prstGeom prst="rect">
            <a:avLst/>
          </a:prstGeom>
          <a:noFill/>
          <a:ln/>
        </p:spPr>
        <p:txBody>
          <a:bodyPr wrap="square" lIns="0" tIns="0" rIns="0" bIns="0" rtlCol="0" anchor="t"/>
          <a:lstStyle/>
          <a:p>
            <a:pPr algn="ctr" indent="0" marL="0">
              <a:buNone/>
            </a:pPr>
            <a:r>
              <a:rPr lang="en-US" sz="1050" dirty="0">
                <a:solidFill>
                  <a:srgbClr val="6B6560"/>
                </a:solidFill>
                <a:latin typeface="Calibri" pitchFamily="34" charset="0"/>
                <a:ea typeface="Calibri" pitchFamily="34" charset="-122"/>
                <a:cs typeface="Calibri" pitchFamily="34" charset="-120"/>
              </a:rPr>
              <a:t>one merchant per day (KPIs)</a:t>
            </a:r>
            <a:endParaRPr lang="en-US" sz="1050" dirty="0"/>
          </a:p>
        </p:txBody>
      </p:sp>
      <p:sp>
        <p:nvSpPr>
          <p:cNvPr id="57" name="Shape 55"/>
          <p:cNvSpPr/>
          <p:nvPr/>
        </p:nvSpPr>
        <p:spPr>
          <a:xfrm>
            <a:off x="4114800" y="5212080"/>
            <a:ext cx="2377440" cy="274320"/>
          </a:xfrm>
          <a:prstGeom prst="line">
            <a:avLst/>
          </a:prstGeom>
          <a:noFill/>
          <a:ln w="15875">
            <a:solidFill>
              <a:srgbClr val="DDD9D2"/>
            </a:solidFill>
            <a:prstDash val="solid"/>
          </a:ln>
        </p:spPr>
      </p:sp>
      <p:sp>
        <p:nvSpPr>
          <p:cNvPr id="58" name="Shape 56"/>
          <p:cNvSpPr/>
          <p:nvPr/>
        </p:nvSpPr>
        <p:spPr>
          <a:xfrm>
            <a:off x="8138160" y="3291840"/>
            <a:ext cx="3474720" cy="2880360"/>
          </a:xfrm>
          <a:prstGeom prst="roundRect">
            <a:avLst>
              <a:gd name="adj" fmla="val 2222"/>
            </a:avLst>
          </a:prstGeom>
          <a:solidFill>
            <a:srgbClr val="F4F3F0"/>
          </a:solidFill>
          <a:ln w="9525">
            <a:solidFill>
              <a:srgbClr val="F4F3F0"/>
            </a:solidFill>
            <a:prstDash val="solid"/>
          </a:ln>
        </p:spPr>
      </p:sp>
      <p:sp>
        <p:nvSpPr>
          <p:cNvPr id="59" name="Text 57"/>
          <p:cNvSpPr txBox="1"/>
          <p:nvPr/>
        </p:nvSpPr>
        <p:spPr>
          <a:xfrm>
            <a:off x="8321040" y="3474720"/>
            <a:ext cx="3154680" cy="2606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Only new files and rows are loaded (watermark)</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Bad rows go to audit.dq_log with a reason</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SCD Type 2 keeps merchant risk history</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Customer id stored only as a hash</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Keys, CHECK rules and indexes enforced</a:t>
            </a:r>
            <a:endParaRPr lang="en-US" sz="1250" dirty="0"/>
          </a:p>
        </p:txBody>
      </p:sp>
      <p:sp>
        <p:nvSpPr>
          <p:cNvPr id="60" name="Text 58"/>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Dashboard and API</a:t>
            </a:r>
            <a:endParaRPr lang="en-US" sz="3200" dirty="0"/>
          </a:p>
        </p:txBody>
      </p:sp>
      <p:sp>
        <p:nvSpPr>
          <p:cNvPr id="3" name="Shape 1"/>
          <p:cNvSpPr/>
          <p:nvPr/>
        </p:nvSpPr>
        <p:spPr>
          <a:xfrm>
            <a:off x="548640" y="1463040"/>
            <a:ext cx="2066544" cy="1051560"/>
          </a:xfrm>
          <a:prstGeom prst="roundRect">
            <a:avLst>
              <a:gd name="adj" fmla="val 6087"/>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4" name="Text 2"/>
          <p:cNvSpPr txBox="1"/>
          <p:nvPr/>
        </p:nvSpPr>
        <p:spPr>
          <a:xfrm>
            <a:off x="731520" y="1572768"/>
            <a:ext cx="1700784" cy="578358"/>
          </a:xfrm>
          <a:prstGeom prst="rect">
            <a:avLst/>
          </a:prstGeom>
          <a:noFill/>
          <a:ln/>
        </p:spPr>
        <p:txBody>
          <a:bodyPr wrap="square" lIns="0" tIns="0" rIns="0" bIns="0" rtlCol="0" anchor="ctr"/>
          <a:lstStyle/>
          <a:p>
            <a:pPr indent="0" marL="0">
              <a:buNone/>
            </a:pPr>
            <a:r>
              <a:rPr lang="en-US" sz="2800" b="1" dirty="0">
                <a:solidFill>
                  <a:srgbClr val="2F2A24"/>
                </a:solidFill>
                <a:latin typeface="Cambria" pitchFamily="34" charset="0"/>
                <a:ea typeface="Cambria" pitchFamily="34" charset="-122"/>
                <a:cs typeface="Cambria" pitchFamily="34" charset="-120"/>
              </a:rPr>
              <a:t>3,383</a:t>
            </a:r>
            <a:endParaRPr lang="en-US" sz="2800" dirty="0"/>
          </a:p>
        </p:txBody>
      </p:sp>
      <p:sp>
        <p:nvSpPr>
          <p:cNvPr id="5" name="Text 3"/>
          <p:cNvSpPr txBox="1"/>
          <p:nvPr/>
        </p:nvSpPr>
        <p:spPr>
          <a:xfrm>
            <a:off x="731520" y="2115007"/>
            <a:ext cx="1700784" cy="347015"/>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successful payments</a:t>
            </a:r>
            <a:endParaRPr lang="en-US" sz="1200" dirty="0"/>
          </a:p>
        </p:txBody>
      </p:sp>
      <p:sp>
        <p:nvSpPr>
          <p:cNvPr id="6" name="Shape 4"/>
          <p:cNvSpPr/>
          <p:nvPr/>
        </p:nvSpPr>
        <p:spPr>
          <a:xfrm>
            <a:off x="2798064" y="1463040"/>
            <a:ext cx="2066544" cy="1051560"/>
          </a:xfrm>
          <a:prstGeom prst="roundRect">
            <a:avLst>
              <a:gd name="adj" fmla="val 6087"/>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7" name="Text 5"/>
          <p:cNvSpPr txBox="1"/>
          <p:nvPr/>
        </p:nvSpPr>
        <p:spPr>
          <a:xfrm>
            <a:off x="2980944" y="1572768"/>
            <a:ext cx="1700784" cy="578358"/>
          </a:xfrm>
          <a:prstGeom prst="rect">
            <a:avLst/>
          </a:prstGeom>
          <a:noFill/>
          <a:ln/>
        </p:spPr>
        <p:txBody>
          <a:bodyPr wrap="square" lIns="0" tIns="0" rIns="0" bIns="0" rtlCol="0" anchor="ctr"/>
          <a:lstStyle/>
          <a:p>
            <a:pPr indent="0" marL="0">
              <a:buNone/>
            </a:pPr>
            <a:r>
              <a:rPr lang="en-US" sz="2800" b="1" dirty="0">
                <a:solidFill>
                  <a:srgbClr val="2F2A24"/>
                </a:solidFill>
                <a:latin typeface="Cambria" pitchFamily="34" charset="0"/>
                <a:ea typeface="Cambria" pitchFamily="34" charset="-122"/>
                <a:cs typeface="Cambria" pitchFamily="34" charset="-120"/>
              </a:rPr>
              <a:t>₹4.13 Cr</a:t>
            </a:r>
            <a:endParaRPr lang="en-US" sz="2800" dirty="0"/>
          </a:p>
        </p:txBody>
      </p:sp>
      <p:sp>
        <p:nvSpPr>
          <p:cNvPr id="8" name="Text 6"/>
          <p:cNvSpPr txBox="1"/>
          <p:nvPr/>
        </p:nvSpPr>
        <p:spPr>
          <a:xfrm>
            <a:off x="2980944" y="2115007"/>
            <a:ext cx="1700784" cy="347015"/>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payment volume</a:t>
            </a:r>
            <a:endParaRPr lang="en-US" sz="1200" dirty="0"/>
          </a:p>
        </p:txBody>
      </p:sp>
      <p:sp>
        <p:nvSpPr>
          <p:cNvPr id="9" name="Shape 7"/>
          <p:cNvSpPr/>
          <p:nvPr/>
        </p:nvSpPr>
        <p:spPr>
          <a:xfrm>
            <a:off x="5047488" y="1463040"/>
            <a:ext cx="2066544" cy="1051560"/>
          </a:xfrm>
          <a:prstGeom prst="roundRect">
            <a:avLst>
              <a:gd name="adj" fmla="val 6087"/>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10" name="Text 8"/>
          <p:cNvSpPr txBox="1"/>
          <p:nvPr/>
        </p:nvSpPr>
        <p:spPr>
          <a:xfrm>
            <a:off x="5230368" y="1572768"/>
            <a:ext cx="1700784" cy="578358"/>
          </a:xfrm>
          <a:prstGeom prst="rect">
            <a:avLst/>
          </a:prstGeom>
          <a:noFill/>
          <a:ln/>
        </p:spPr>
        <p:txBody>
          <a:bodyPr wrap="square" lIns="0" tIns="0" rIns="0" bIns="0" rtlCol="0" anchor="ctr"/>
          <a:lstStyle/>
          <a:p>
            <a:pPr indent="0" marL="0">
              <a:buNone/>
            </a:pPr>
            <a:r>
              <a:rPr lang="en-US" sz="2800" b="1" dirty="0">
                <a:solidFill>
                  <a:srgbClr val="B03A2E"/>
                </a:solidFill>
                <a:latin typeface="Cambria" pitchFamily="34" charset="0"/>
                <a:ea typeface="Cambria" pitchFamily="34" charset="-122"/>
                <a:cs typeface="Cambria" pitchFamily="34" charset="-120"/>
              </a:rPr>
              <a:t>93.72 %</a:t>
            </a:r>
            <a:endParaRPr lang="en-US" sz="2800" dirty="0"/>
          </a:p>
        </p:txBody>
      </p:sp>
      <p:sp>
        <p:nvSpPr>
          <p:cNvPr id="11" name="Text 9"/>
          <p:cNvSpPr txBox="1"/>
          <p:nvPr/>
        </p:nvSpPr>
        <p:spPr>
          <a:xfrm>
            <a:off x="5230368" y="2115007"/>
            <a:ext cx="1700784" cy="347015"/>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settled · target 95 %</a:t>
            </a:r>
            <a:endParaRPr lang="en-US" sz="1200" dirty="0"/>
          </a:p>
        </p:txBody>
      </p:sp>
      <p:sp>
        <p:nvSpPr>
          <p:cNvPr id="12" name="Shape 10"/>
          <p:cNvSpPr/>
          <p:nvPr/>
        </p:nvSpPr>
        <p:spPr>
          <a:xfrm>
            <a:off x="7296912" y="1463040"/>
            <a:ext cx="2066544" cy="1051560"/>
          </a:xfrm>
          <a:prstGeom prst="roundRect">
            <a:avLst>
              <a:gd name="adj" fmla="val 6087"/>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13" name="Text 11"/>
          <p:cNvSpPr txBox="1"/>
          <p:nvPr/>
        </p:nvSpPr>
        <p:spPr>
          <a:xfrm>
            <a:off x="7479792" y="1572768"/>
            <a:ext cx="1700784" cy="578358"/>
          </a:xfrm>
          <a:prstGeom prst="rect">
            <a:avLst/>
          </a:prstGeom>
          <a:noFill/>
          <a:ln/>
        </p:spPr>
        <p:txBody>
          <a:bodyPr wrap="square" lIns="0" tIns="0" rIns="0" bIns="0" rtlCol="0" anchor="ctr"/>
          <a:lstStyle/>
          <a:p>
            <a:pPr indent="0" marL="0">
              <a:buNone/>
            </a:pPr>
            <a:r>
              <a:rPr lang="en-US" sz="2800" b="1" dirty="0">
                <a:solidFill>
                  <a:srgbClr val="2F2A24"/>
                </a:solidFill>
                <a:latin typeface="Cambria" pitchFamily="34" charset="0"/>
                <a:ea typeface="Cambria" pitchFamily="34" charset="-122"/>
                <a:cs typeface="Cambria" pitchFamily="34" charset="-120"/>
              </a:rPr>
              <a:t>₹25.95 L</a:t>
            </a:r>
            <a:endParaRPr lang="en-US" sz="2800" dirty="0"/>
          </a:p>
        </p:txBody>
      </p:sp>
      <p:sp>
        <p:nvSpPr>
          <p:cNvPr id="14" name="Text 12"/>
          <p:cNvSpPr txBox="1"/>
          <p:nvPr/>
        </p:nvSpPr>
        <p:spPr>
          <a:xfrm>
            <a:off x="7479792" y="2115007"/>
            <a:ext cx="1700784" cy="347015"/>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settlement gap</a:t>
            </a:r>
            <a:endParaRPr lang="en-US" sz="1200" dirty="0"/>
          </a:p>
        </p:txBody>
      </p:sp>
      <p:sp>
        <p:nvSpPr>
          <p:cNvPr id="15" name="Shape 13"/>
          <p:cNvSpPr/>
          <p:nvPr/>
        </p:nvSpPr>
        <p:spPr>
          <a:xfrm>
            <a:off x="9546336" y="1463040"/>
            <a:ext cx="2066544" cy="1051560"/>
          </a:xfrm>
          <a:prstGeom prst="roundRect">
            <a:avLst>
              <a:gd name="adj" fmla="val 6087"/>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16" name="Text 14"/>
          <p:cNvSpPr txBox="1"/>
          <p:nvPr/>
        </p:nvSpPr>
        <p:spPr>
          <a:xfrm>
            <a:off x="9729216" y="1572768"/>
            <a:ext cx="1700784" cy="578358"/>
          </a:xfrm>
          <a:prstGeom prst="rect">
            <a:avLst/>
          </a:prstGeom>
          <a:noFill/>
          <a:ln/>
        </p:spPr>
        <p:txBody>
          <a:bodyPr wrap="square" lIns="0" tIns="0" rIns="0" bIns="0" rtlCol="0" anchor="ctr"/>
          <a:lstStyle/>
          <a:p>
            <a:pPr indent="0" marL="0">
              <a:buNone/>
            </a:pPr>
            <a:r>
              <a:rPr lang="en-US" sz="2800" b="1" dirty="0">
                <a:solidFill>
                  <a:srgbClr val="B03A2E"/>
                </a:solidFill>
                <a:latin typeface="Cambria" pitchFamily="34" charset="0"/>
                <a:ea typeface="Cambria" pitchFamily="34" charset="-122"/>
                <a:cs typeface="Cambria" pitchFamily="34" charset="-120"/>
              </a:rPr>
              <a:t>77.09 %</a:t>
            </a:r>
            <a:endParaRPr lang="en-US" sz="2800" dirty="0"/>
          </a:p>
        </p:txBody>
      </p:sp>
      <p:sp>
        <p:nvSpPr>
          <p:cNvPr id="17" name="Text 15"/>
          <p:cNvSpPr txBox="1"/>
          <p:nvPr/>
        </p:nvSpPr>
        <p:spPr>
          <a:xfrm>
            <a:off x="9729216" y="2115007"/>
            <a:ext cx="1700784" cy="347015"/>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within 30 min · target 90 %</a:t>
            </a:r>
            <a:endParaRPr lang="en-US" sz="1200" dirty="0"/>
          </a:p>
        </p:txBody>
      </p:sp>
      <p:sp>
        <p:nvSpPr>
          <p:cNvPr id="18" name="Shape 16"/>
          <p:cNvSpPr/>
          <p:nvPr/>
        </p:nvSpPr>
        <p:spPr>
          <a:xfrm>
            <a:off x="548640" y="2743200"/>
            <a:ext cx="3931920" cy="2560320"/>
          </a:xfrm>
          <a:prstGeom prst="roundRect">
            <a:avLst>
              <a:gd name="adj" fmla="val 2500"/>
            </a:avLst>
          </a:prstGeom>
          <a:solidFill>
            <a:srgbClr val="F4F3F0"/>
          </a:solidFill>
          <a:ln w="9525">
            <a:solidFill>
              <a:srgbClr val="F4F3F0"/>
            </a:solidFill>
            <a:prstDash val="solid"/>
          </a:ln>
        </p:spPr>
      </p:sp>
      <p:sp>
        <p:nvSpPr>
          <p:cNvPr id="19" name="Text 17"/>
          <p:cNvSpPr txBox="1"/>
          <p:nvPr/>
        </p:nvSpPr>
        <p:spPr>
          <a:xfrm>
            <a:off x="777240" y="2880360"/>
            <a:ext cx="3566160" cy="365760"/>
          </a:xfrm>
          <a:prstGeom prst="rect">
            <a:avLst/>
          </a:prstGeom>
          <a:noFill/>
          <a:ln/>
        </p:spPr>
        <p:txBody>
          <a:bodyPr wrap="square" lIns="0" tIns="0" rIns="0" bIns="0" rtlCol="0" anchor="t"/>
          <a:lstStyle/>
          <a:p>
            <a:pPr indent="0" marL="0">
              <a:buNone/>
            </a:pPr>
            <a:r>
              <a:rPr lang="en-US" sz="1600" b="1" dirty="0">
                <a:solidFill>
                  <a:srgbClr val="2F2A24"/>
                </a:solidFill>
                <a:latin typeface="Cambria" pitchFamily="34" charset="0"/>
                <a:ea typeface="Cambria" pitchFamily="34" charset="-122"/>
                <a:cs typeface="Cambria" pitchFamily="34" charset="-120"/>
              </a:rPr>
              <a:t>FastAPI + Pydantic + OpenAPI</a:t>
            </a:r>
            <a:endParaRPr lang="en-US" sz="1600" dirty="0"/>
          </a:p>
        </p:txBody>
      </p:sp>
      <p:sp>
        <p:nvSpPr>
          <p:cNvPr id="20" name="Text 18"/>
          <p:cNvSpPr txBox="1"/>
          <p:nvPr/>
        </p:nvSpPr>
        <p:spPr>
          <a:xfrm>
            <a:off x="777240" y="3383280"/>
            <a:ext cx="356616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/api/v1/settlement-summary</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/api/v1/merchant-exceptions</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/daily-trend · /merchants · /health</a:t>
            </a:r>
            <a:endParaRPr lang="en-US" sz="1300" dirty="0"/>
          </a:p>
        </p:txBody>
      </p:sp>
      <p:sp>
        <p:nvSpPr>
          <p:cNvPr id="21" name="Text 19"/>
          <p:cNvSpPr txBox="1"/>
          <p:nvPr/>
        </p:nvSpPr>
        <p:spPr>
          <a:xfrm>
            <a:off x="777240" y="4663440"/>
            <a:ext cx="3566160" cy="502920"/>
          </a:xfrm>
          <a:prstGeom prst="rect">
            <a:avLst/>
          </a:prstGeom>
          <a:noFill/>
          <a:ln/>
        </p:spPr>
        <p:txBody>
          <a:bodyPr wrap="square" lIns="0" tIns="0" rIns="0" bIns="0" rtlCol="0" anchor="t"/>
          <a:lstStyle/>
          <a:p>
            <a:pPr indent="0" marL="0">
              <a:buNone/>
            </a:pPr>
            <a:r>
              <a:rPr lang="en-US" sz="1150" dirty="0">
                <a:solidFill>
                  <a:srgbClr val="6B6560"/>
                </a:solidFill>
                <a:latin typeface="Calibri" pitchFamily="34" charset="0"/>
                <a:ea typeface="Calibri" pitchFamily="34" charset="-122"/>
                <a:cs typeface="Calibri" pitchFamily="34" charset="-120"/>
              </a:rPr>
              <a:t>Errors: 400 bad date · 401 no key · 404 unknown merchant · 422 bad input</a:t>
            </a:r>
            <a:endParaRPr lang="en-US" sz="1150" dirty="0"/>
          </a:p>
        </p:txBody>
      </p:sp>
      <p:sp>
        <p:nvSpPr>
          <p:cNvPr id="22" name="Shape 20"/>
          <p:cNvSpPr/>
          <p:nvPr/>
        </p:nvSpPr>
        <p:spPr>
          <a:xfrm>
            <a:off x="4764024" y="2752344"/>
            <a:ext cx="6885432" cy="2672150"/>
          </a:xfrm>
          <a:prstGeom prst="rect">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pic>
        <p:nvPicPr>
          <p:cNvPr id="23" name="Image 0" descr="C:/Users/Administrator/Desktop/capstone-2/day2/evidence/dashboard_v2_live.png">    </p:cNvPr>
          <p:cNvPicPr>
            <a:picLocks noChangeAspect="1"/>
          </p:cNvPicPr>
          <p:nvPr/>
        </p:nvPicPr>
        <p:blipFill>
          <a:blip r:embed="rId1"/>
          <a:stretch>
            <a:fillRect/>
          </a:stretch>
        </p:blipFill>
        <p:spPr>
          <a:xfrm>
            <a:off x="4800600" y="2788920"/>
            <a:ext cx="6812280" cy="2598998"/>
          </a:xfrm>
          <a:prstGeom prst="rect">
            <a:avLst/>
          </a:prstGeom>
        </p:spPr>
      </p:pic>
      <p:sp>
        <p:nvSpPr>
          <p:cNvPr id="24" name="Text 21"/>
          <p:cNvSpPr txBox="1"/>
          <p:nvPr/>
        </p:nvSpPr>
        <p:spPr>
          <a:xfrm>
            <a:off x="4800600" y="5451926"/>
            <a:ext cx="6812280" cy="274320"/>
          </a:xfrm>
          <a:prstGeom prst="rect">
            <a:avLst/>
          </a:prstGeom>
          <a:noFill/>
          <a:ln/>
        </p:spPr>
        <p:txBody>
          <a:bodyPr wrap="square" lIns="0" tIns="0" rIns="0" bIns="0" rtlCol="0" anchor="t"/>
          <a:lstStyle/>
          <a:p>
            <a:pPr indent="0" marL="0">
              <a:buNone/>
            </a:pPr>
            <a:r>
              <a:rPr lang="en-US" sz="1100" i="1" dirty="0">
                <a:solidFill>
                  <a:srgbClr val="6B6560"/>
                </a:solidFill>
                <a:latin typeface="Calibri" pitchFamily="34" charset="0"/>
                <a:ea typeface="Calibri" pitchFamily="34" charset="-122"/>
                <a:cs typeface="Calibri" pitchFamily="34" charset="-120"/>
              </a:rPr>
              <a:t>The dashboard only talks to the API — never to the database</a:t>
            </a:r>
            <a:endParaRPr lang="en-US" sz="1100" dirty="0"/>
          </a:p>
        </p:txBody>
      </p:sp>
      <p:sp>
        <p:nvSpPr>
          <p:cNvPr id="25" name="Text 2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CICD workflow</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011680"/>
                <a:gridCol w="5120640"/>
                <a:gridCol w="2194560"/>
                <a:gridCol w="17373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checks</a:t>
                      </a:r>
                      <a:endParaRPr lang="en-US" sz="13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 we used</a:t>
                      </a:r>
                      <a:endParaRPr lang="en-US" sz="13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 result</a:t>
                      </a:r>
                      <a:endParaRPr lang="en-US" sz="13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Validate</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Every Python file compiles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python -m compileall</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Automated tests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KPI formulas, business rules, pipeline, data model, API, security (22 tests)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pytest + JUnit report</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22 / 22 passed</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SAST</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Insecure patterns in OUR code (e.g. SQL built from strings)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Bandit</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0 high findings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Secret scan</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API keys or passwords in files and git history</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Gitleaks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No secrets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SCA</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Known vulnerabilities (CVEs) in the libraries we use</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pip-audit</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No vulnerable libraries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Build</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Code + data + database packed into one image, tagged with the commit id</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Docker (Docker-in-Docker)</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Pushed to registry</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Container scan</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Vulnerabilities in the whole image (OS + packages)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Trivy</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0 critical</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Deploy to dev</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The image starts and answers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GitLab service container</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Healthy</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Smoke test</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Health, JSON, response &lt; 500 ms, rate 0–100 % and = 93.72 %</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smoke_test.py</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Reconciliation</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KPI table matches the fact tables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reconcile.py</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384048">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Deploy to production</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 person approves; image tagged :production</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b="1" dirty="0">
                          <a:solidFill>
                            <a:srgbClr val="C0582F"/>
                          </a:solidFill>
                          <a:latin typeface="Calibri" pitchFamily="34" charset="0"/>
                          <a:ea typeface="Calibri" pitchFamily="34" charset="-122"/>
                          <a:cs typeface="Calibri" pitchFamily="34" charset="-120"/>
                        </a:rPr>
                        <a:t>GitLab manual job</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indent="0" marL="0">
                        <a:buNone/>
                      </a:pPr>
                      <a:r>
                        <a:rPr lang="en-US" sz="1200" dirty="0">
                          <a:solidFill>
                            <a:srgbClr val="3E7C4F"/>
                          </a:solidFill>
                          <a:latin typeface="Calibri" pitchFamily="34" charset="0"/>
                          <a:ea typeface="Calibri" pitchFamily="34" charset="-122"/>
                          <a:cs typeface="Calibri" pitchFamily="34" charset="-120"/>
                        </a:rPr>
                        <a:t>Approved</a:t>
                      </a:r>
                      <a:endParaRPr lang="en-US" sz="1200" dirty="0">
                        <a:latin typeface="Calibri" charset="0"/>
                        <a:ea typeface="Calibri" charset="0"/>
                        <a:cs typeface="Calibri" charset="0"/>
                      </a:endParaRPr>
                    </a:p>
                  </a:txBody>
                  <a:tcPr marL="91440" marR="91440" marT="0" marB="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Gitlab Pipeline</a:t>
            </a:r>
            <a:endParaRPr lang="en-US" sz="3200" dirty="0"/>
          </a:p>
        </p:txBody>
      </p:sp>
      <p:sp>
        <p:nvSpPr>
          <p:cNvPr id="3" name="Shape 1"/>
          <p:cNvSpPr/>
          <p:nvPr/>
        </p:nvSpPr>
        <p:spPr>
          <a:xfrm>
            <a:off x="548640" y="1417320"/>
            <a:ext cx="1298448" cy="548640"/>
          </a:xfrm>
          <a:prstGeom prst="chevron">
            <a:avLst/>
          </a:prstGeom>
          <a:solidFill>
            <a:srgbClr val="2F2A24"/>
          </a:solidFill>
          <a:ln w="12700">
            <a:solidFill>
              <a:srgbClr val="2F2A24"/>
            </a:solidFill>
            <a:prstDash val="solid"/>
          </a:ln>
        </p:spPr>
      </p:sp>
      <p:sp>
        <p:nvSpPr>
          <p:cNvPr id="4" name="Text 2"/>
          <p:cNvSpPr txBox="1"/>
          <p:nvPr/>
        </p:nvSpPr>
        <p:spPr>
          <a:xfrm>
            <a:off x="713232"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validate</a:t>
            </a:r>
            <a:endParaRPr lang="en-US" sz="1100" dirty="0"/>
          </a:p>
        </p:txBody>
      </p:sp>
      <p:sp>
        <p:nvSpPr>
          <p:cNvPr id="5" name="Shape 3"/>
          <p:cNvSpPr/>
          <p:nvPr/>
        </p:nvSpPr>
        <p:spPr>
          <a:xfrm>
            <a:off x="1938528" y="1417320"/>
            <a:ext cx="1298448" cy="548640"/>
          </a:xfrm>
          <a:prstGeom prst="chevron">
            <a:avLst/>
          </a:prstGeom>
          <a:solidFill>
            <a:srgbClr val="2F2A24"/>
          </a:solidFill>
          <a:ln w="12700">
            <a:solidFill>
              <a:srgbClr val="2F2A24"/>
            </a:solidFill>
            <a:prstDash val="solid"/>
          </a:ln>
        </p:spPr>
      </p:sp>
      <p:sp>
        <p:nvSpPr>
          <p:cNvPr id="6" name="Text 4"/>
          <p:cNvSpPr txBox="1"/>
          <p:nvPr/>
        </p:nvSpPr>
        <p:spPr>
          <a:xfrm>
            <a:off x="2103120"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7" name="Shape 5"/>
          <p:cNvSpPr/>
          <p:nvPr/>
        </p:nvSpPr>
        <p:spPr>
          <a:xfrm>
            <a:off x="3328416" y="1417320"/>
            <a:ext cx="1298448" cy="548640"/>
          </a:xfrm>
          <a:prstGeom prst="chevron">
            <a:avLst/>
          </a:prstGeom>
          <a:solidFill>
            <a:srgbClr val="2F2A24"/>
          </a:solidFill>
          <a:ln w="12700">
            <a:solidFill>
              <a:srgbClr val="2F2A24"/>
            </a:solidFill>
            <a:prstDash val="solid"/>
          </a:ln>
        </p:spPr>
      </p:sp>
      <p:sp>
        <p:nvSpPr>
          <p:cNvPr id="8" name="Text 6"/>
          <p:cNvSpPr txBox="1"/>
          <p:nvPr/>
        </p:nvSpPr>
        <p:spPr>
          <a:xfrm>
            <a:off x="3493008"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security</a:t>
            </a:r>
            <a:endParaRPr lang="en-US" sz="1100" dirty="0"/>
          </a:p>
        </p:txBody>
      </p:sp>
      <p:sp>
        <p:nvSpPr>
          <p:cNvPr id="9" name="Shape 7"/>
          <p:cNvSpPr/>
          <p:nvPr/>
        </p:nvSpPr>
        <p:spPr>
          <a:xfrm>
            <a:off x="4718304" y="1417320"/>
            <a:ext cx="1298448" cy="548640"/>
          </a:xfrm>
          <a:prstGeom prst="chevron">
            <a:avLst/>
          </a:prstGeom>
          <a:solidFill>
            <a:srgbClr val="2F2A24"/>
          </a:solidFill>
          <a:ln w="12700">
            <a:solidFill>
              <a:srgbClr val="2F2A24"/>
            </a:solidFill>
            <a:prstDash val="solid"/>
          </a:ln>
        </p:spPr>
      </p:sp>
      <p:sp>
        <p:nvSpPr>
          <p:cNvPr id="10" name="Text 8"/>
          <p:cNvSpPr txBox="1"/>
          <p:nvPr/>
        </p:nvSpPr>
        <p:spPr>
          <a:xfrm>
            <a:off x="4882896"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a:t>
            </a:r>
            <a:endParaRPr lang="en-US" sz="1100" dirty="0"/>
          </a:p>
        </p:txBody>
      </p:sp>
      <p:sp>
        <p:nvSpPr>
          <p:cNvPr id="11" name="Shape 9"/>
          <p:cNvSpPr/>
          <p:nvPr/>
        </p:nvSpPr>
        <p:spPr>
          <a:xfrm>
            <a:off x="6108192" y="1417320"/>
            <a:ext cx="1298448" cy="548640"/>
          </a:xfrm>
          <a:prstGeom prst="chevron">
            <a:avLst/>
          </a:prstGeom>
          <a:solidFill>
            <a:srgbClr val="2F2A24"/>
          </a:solidFill>
          <a:ln w="12700">
            <a:solidFill>
              <a:srgbClr val="2F2A24"/>
            </a:solidFill>
            <a:prstDash val="solid"/>
          </a:ln>
        </p:spPr>
      </p:sp>
      <p:sp>
        <p:nvSpPr>
          <p:cNvPr id="12" name="Text 10"/>
          <p:cNvSpPr txBox="1"/>
          <p:nvPr/>
        </p:nvSpPr>
        <p:spPr>
          <a:xfrm>
            <a:off x="6272784"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package</a:t>
            </a:r>
            <a:endParaRPr lang="en-US" sz="1100" dirty="0"/>
          </a:p>
        </p:txBody>
      </p:sp>
      <p:sp>
        <p:nvSpPr>
          <p:cNvPr id="13" name="Shape 11"/>
          <p:cNvSpPr/>
          <p:nvPr/>
        </p:nvSpPr>
        <p:spPr>
          <a:xfrm>
            <a:off x="7498080" y="1417320"/>
            <a:ext cx="1298448" cy="548640"/>
          </a:xfrm>
          <a:prstGeom prst="chevron">
            <a:avLst/>
          </a:prstGeom>
          <a:solidFill>
            <a:srgbClr val="2F2A24"/>
          </a:solidFill>
          <a:ln w="12700">
            <a:solidFill>
              <a:srgbClr val="2F2A24"/>
            </a:solidFill>
            <a:prstDash val="solid"/>
          </a:ln>
        </p:spPr>
      </p:sp>
      <p:sp>
        <p:nvSpPr>
          <p:cNvPr id="14" name="Text 12"/>
          <p:cNvSpPr txBox="1"/>
          <p:nvPr/>
        </p:nvSpPr>
        <p:spPr>
          <a:xfrm>
            <a:off x="7662672"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deploy_dev</a:t>
            </a:r>
            <a:endParaRPr lang="en-US" sz="1100" dirty="0"/>
          </a:p>
        </p:txBody>
      </p:sp>
      <p:sp>
        <p:nvSpPr>
          <p:cNvPr id="15" name="Shape 13"/>
          <p:cNvSpPr/>
          <p:nvPr/>
        </p:nvSpPr>
        <p:spPr>
          <a:xfrm>
            <a:off x="8887968" y="1417320"/>
            <a:ext cx="1298448" cy="548640"/>
          </a:xfrm>
          <a:prstGeom prst="chevron">
            <a:avLst/>
          </a:prstGeom>
          <a:solidFill>
            <a:srgbClr val="2F2A24"/>
          </a:solidFill>
          <a:ln w="12700">
            <a:solidFill>
              <a:srgbClr val="2F2A24"/>
            </a:solidFill>
            <a:prstDash val="solid"/>
          </a:ln>
        </p:spPr>
      </p:sp>
      <p:sp>
        <p:nvSpPr>
          <p:cNvPr id="16" name="Text 14"/>
          <p:cNvSpPr txBox="1"/>
          <p:nvPr/>
        </p:nvSpPr>
        <p:spPr>
          <a:xfrm>
            <a:off x="9052560"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smoke_test</a:t>
            </a:r>
            <a:endParaRPr lang="en-US" sz="1100" dirty="0"/>
          </a:p>
        </p:txBody>
      </p:sp>
      <p:sp>
        <p:nvSpPr>
          <p:cNvPr id="17" name="Shape 15"/>
          <p:cNvSpPr/>
          <p:nvPr/>
        </p:nvSpPr>
        <p:spPr>
          <a:xfrm>
            <a:off x="10277856" y="1417320"/>
            <a:ext cx="1298448" cy="548640"/>
          </a:xfrm>
          <a:prstGeom prst="chevron">
            <a:avLst/>
          </a:prstGeom>
          <a:solidFill>
            <a:srgbClr val="C0582F"/>
          </a:solidFill>
          <a:ln w="12700">
            <a:solidFill>
              <a:srgbClr val="C0582F"/>
            </a:solidFill>
            <a:prstDash val="solid"/>
          </a:ln>
        </p:spPr>
      </p:sp>
      <p:sp>
        <p:nvSpPr>
          <p:cNvPr id="18" name="Text 16"/>
          <p:cNvSpPr txBox="1"/>
          <p:nvPr/>
        </p:nvSpPr>
        <p:spPr>
          <a:xfrm>
            <a:off x="10442448" y="1417320"/>
            <a:ext cx="102412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deploy_prod</a:t>
            </a:r>
            <a:endParaRPr lang="en-US" sz="1100" dirty="0"/>
          </a:p>
        </p:txBody>
      </p:sp>
      <p:sp>
        <p:nvSpPr>
          <p:cNvPr id="19" name="Text 17"/>
          <p:cNvSpPr txBox="1"/>
          <p:nvPr/>
        </p:nvSpPr>
        <p:spPr>
          <a:xfrm>
            <a:off x="548640" y="2011680"/>
            <a:ext cx="1298448" cy="411480"/>
          </a:xfrm>
          <a:prstGeom prst="rect">
            <a:avLst/>
          </a:prstGeom>
          <a:noFill/>
          <a:ln/>
        </p:spPr>
        <p:txBody>
          <a:bodyPr wrap="square" lIns="0" tIns="0" rIns="0" bIns="0" rtlCol="0" anchor="t"/>
          <a:lstStyle/>
          <a:p>
            <a:pPr algn="ctr" indent="0" marL="0">
              <a:buNone/>
            </a:pPr>
            <a:r>
              <a:rPr lang="en-US" sz="1000" dirty="0">
                <a:solidFill>
                  <a:srgbClr val="6B6560"/>
                </a:solidFill>
                <a:latin typeface="Calibri" pitchFamily="34" charset="0"/>
                <a:ea typeface="Calibri" pitchFamily="34" charset="-122"/>
                <a:cs typeface="Calibri" pitchFamily="34" charset="-120"/>
              </a:rPr>
              <a:t>compile</a:t>
            </a:r>
            <a:endParaRPr lang="en-US" sz="1000" dirty="0"/>
          </a:p>
        </p:txBody>
      </p:sp>
      <p:sp>
        <p:nvSpPr>
          <p:cNvPr id="20" name="Text 18"/>
          <p:cNvSpPr txBox="1"/>
          <p:nvPr/>
        </p:nvSpPr>
        <p:spPr>
          <a:xfrm>
            <a:off x="1938528" y="2011680"/>
            <a:ext cx="1298448" cy="411480"/>
          </a:xfrm>
          <a:prstGeom prst="rect">
            <a:avLst/>
          </a:prstGeom>
          <a:noFill/>
          <a:ln/>
        </p:spPr>
        <p:txBody>
          <a:bodyPr wrap="square" lIns="0" tIns="0" rIns="0" bIns="0" rtlCol="0" anchor="t"/>
          <a:lstStyle/>
          <a:p>
            <a:pPr algn="ctr" indent="0" marL="0">
              <a:buNone/>
            </a:pPr>
            <a:r>
              <a:rPr lang="en-US" sz="1000" dirty="0">
                <a:solidFill>
                  <a:srgbClr val="6B6560"/>
                </a:solidFill>
                <a:latin typeface="Calibri" pitchFamily="34" charset="0"/>
                <a:ea typeface="Calibri" pitchFamily="34" charset="-122"/>
                <a:cs typeface="Calibri" pitchFamily="34" charset="-120"/>
              </a:rPr>
              <a:t>pytest (22)</a:t>
            </a:r>
            <a:endParaRPr lang="en-US" sz="1000" dirty="0"/>
          </a:p>
        </p:txBody>
      </p:sp>
      <p:sp>
        <p:nvSpPr>
          <p:cNvPr id="21" name="Text 19"/>
          <p:cNvSpPr txBox="1"/>
          <p:nvPr/>
        </p:nvSpPr>
        <p:spPr>
          <a:xfrm>
            <a:off x="3328416" y="2011680"/>
            <a:ext cx="1298448" cy="411480"/>
          </a:xfrm>
          <a:prstGeom prst="rect">
            <a:avLst/>
          </a:prstGeom>
          <a:noFill/>
          <a:ln/>
        </p:spPr>
        <p:txBody>
          <a:bodyPr wrap="square" lIns="0" tIns="0" rIns="0" bIns="0" rtlCol="0" anchor="t"/>
          <a:lstStyle/>
          <a:p>
            <a:pPr algn="ctr" indent="0" marL="0">
              <a:buNone/>
            </a:pPr>
            <a:r>
              <a:rPr lang="en-US" sz="1000" dirty="0">
                <a:solidFill>
                  <a:srgbClr val="6B6560"/>
                </a:solidFill>
                <a:latin typeface="Calibri" pitchFamily="34" charset="0"/>
                <a:ea typeface="Calibri" pitchFamily="34" charset="-122"/>
                <a:cs typeface="Calibri" pitchFamily="34" charset="-120"/>
              </a:rPr>
              <a:t>Bandit · Gitleaks · pip-audit</a:t>
            </a:r>
            <a:endParaRPr lang="en-US" sz="1000" dirty="0"/>
          </a:p>
        </p:txBody>
      </p:sp>
      <p:sp>
        <p:nvSpPr>
          <p:cNvPr id="22" name="Text 20"/>
          <p:cNvSpPr txBox="1"/>
          <p:nvPr/>
        </p:nvSpPr>
        <p:spPr>
          <a:xfrm>
            <a:off x="4718304" y="2011680"/>
            <a:ext cx="1298448" cy="411480"/>
          </a:xfrm>
          <a:prstGeom prst="rect">
            <a:avLst/>
          </a:prstGeom>
          <a:noFill/>
          <a:ln/>
        </p:spPr>
        <p:txBody>
          <a:bodyPr wrap="square" lIns="0" tIns="0" rIns="0" bIns="0" rtlCol="0" anchor="t"/>
          <a:lstStyle/>
          <a:p>
            <a:pPr algn="ctr" indent="0" marL="0">
              <a:buNone/>
            </a:pPr>
            <a:r>
              <a:rPr lang="en-US" sz="1000" dirty="0">
                <a:solidFill>
                  <a:srgbClr val="6B6560"/>
                </a:solidFill>
                <a:latin typeface="Calibri" pitchFamily="34" charset="0"/>
                <a:ea typeface="Calibri" pitchFamily="34" charset="-122"/>
                <a:cs typeface="Calibri" pitchFamily="34" charset="-120"/>
              </a:rPr>
              <a:t>docker build + push</a:t>
            </a:r>
            <a:endParaRPr lang="en-US" sz="1000" dirty="0"/>
          </a:p>
        </p:txBody>
      </p:sp>
      <p:sp>
        <p:nvSpPr>
          <p:cNvPr id="23" name="Text 21"/>
          <p:cNvSpPr txBox="1"/>
          <p:nvPr/>
        </p:nvSpPr>
        <p:spPr>
          <a:xfrm>
            <a:off x="6108192" y="2011680"/>
            <a:ext cx="1298448" cy="411480"/>
          </a:xfrm>
          <a:prstGeom prst="rect">
            <a:avLst/>
          </a:prstGeom>
          <a:noFill/>
          <a:ln/>
        </p:spPr>
        <p:txBody>
          <a:bodyPr wrap="square" lIns="0" tIns="0" rIns="0" bIns="0" rtlCol="0" anchor="t"/>
          <a:lstStyle/>
          <a:p>
            <a:pPr algn="ctr" indent="0" marL="0">
              <a:buNone/>
            </a:pPr>
            <a:r>
              <a:rPr lang="en-US" sz="1000" dirty="0">
                <a:solidFill>
                  <a:srgbClr val="6B6560"/>
                </a:solidFill>
                <a:latin typeface="Calibri" pitchFamily="34" charset="0"/>
                <a:ea typeface="Calibri" pitchFamily="34" charset="-122"/>
                <a:cs typeface="Calibri" pitchFamily="34" charset="-120"/>
              </a:rPr>
              <a:t>Trivy scan</a:t>
            </a:r>
            <a:endParaRPr lang="en-US" sz="1000" dirty="0"/>
          </a:p>
        </p:txBody>
      </p:sp>
      <p:sp>
        <p:nvSpPr>
          <p:cNvPr id="24" name="Text 22"/>
          <p:cNvSpPr txBox="1"/>
          <p:nvPr/>
        </p:nvSpPr>
        <p:spPr>
          <a:xfrm>
            <a:off x="7498080" y="2011680"/>
            <a:ext cx="1298448" cy="411480"/>
          </a:xfrm>
          <a:prstGeom prst="rect">
            <a:avLst/>
          </a:prstGeom>
          <a:noFill/>
          <a:ln/>
        </p:spPr>
        <p:txBody>
          <a:bodyPr wrap="square" lIns="0" tIns="0" rIns="0" bIns="0" rtlCol="0" anchor="t"/>
          <a:lstStyle/>
          <a:p>
            <a:pPr algn="ctr" indent="0" marL="0">
              <a:buNone/>
            </a:pPr>
            <a:r>
              <a:rPr lang="en-US" sz="1000" dirty="0">
                <a:solidFill>
                  <a:srgbClr val="6B6560"/>
                </a:solidFill>
                <a:latin typeface="Calibri" pitchFamily="34" charset="0"/>
                <a:ea typeface="Calibri" pitchFamily="34" charset="-122"/>
                <a:cs typeface="Calibri" pitchFamily="34" charset="-120"/>
              </a:rPr>
              <a:t>start image</a:t>
            </a:r>
            <a:endParaRPr lang="en-US" sz="1000" dirty="0"/>
          </a:p>
        </p:txBody>
      </p:sp>
      <p:sp>
        <p:nvSpPr>
          <p:cNvPr id="25" name="Text 23"/>
          <p:cNvSpPr txBox="1"/>
          <p:nvPr/>
        </p:nvSpPr>
        <p:spPr>
          <a:xfrm>
            <a:off x="8887968" y="2011680"/>
            <a:ext cx="1298448" cy="411480"/>
          </a:xfrm>
          <a:prstGeom prst="rect">
            <a:avLst/>
          </a:prstGeom>
          <a:noFill/>
          <a:ln/>
        </p:spPr>
        <p:txBody>
          <a:bodyPr wrap="square" lIns="0" tIns="0" rIns="0" bIns="0" rtlCol="0" anchor="t"/>
          <a:lstStyle/>
          <a:p>
            <a:pPr algn="ctr" indent="0" marL="0">
              <a:buNone/>
            </a:pPr>
            <a:r>
              <a:rPr lang="en-US" sz="1000" dirty="0">
                <a:solidFill>
                  <a:srgbClr val="6B6560"/>
                </a:solidFill>
                <a:latin typeface="Calibri" pitchFamily="34" charset="0"/>
                <a:ea typeface="Calibri" pitchFamily="34" charset="-122"/>
                <a:cs typeface="Calibri" pitchFamily="34" charset="-120"/>
              </a:rPr>
              <a:t>business checks</a:t>
            </a:r>
            <a:endParaRPr lang="en-US" sz="1000" dirty="0"/>
          </a:p>
        </p:txBody>
      </p:sp>
      <p:sp>
        <p:nvSpPr>
          <p:cNvPr id="26" name="Text 24"/>
          <p:cNvSpPr txBox="1"/>
          <p:nvPr/>
        </p:nvSpPr>
        <p:spPr>
          <a:xfrm>
            <a:off x="10277856" y="2011680"/>
            <a:ext cx="1298448" cy="411480"/>
          </a:xfrm>
          <a:prstGeom prst="rect">
            <a:avLst/>
          </a:prstGeom>
          <a:noFill/>
          <a:ln/>
        </p:spPr>
        <p:txBody>
          <a:bodyPr wrap="square" lIns="0" tIns="0" rIns="0" bIns="0" rtlCol="0" anchor="t"/>
          <a:lstStyle/>
          <a:p>
            <a:pPr algn="ctr" indent="0" marL="0">
              <a:buNone/>
            </a:pPr>
            <a:r>
              <a:rPr lang="en-US" sz="1000" b="1" dirty="0">
                <a:solidFill>
                  <a:srgbClr val="C0582F"/>
                </a:solidFill>
                <a:latin typeface="Calibri" pitchFamily="34" charset="0"/>
                <a:ea typeface="Calibri" pitchFamily="34" charset="-122"/>
                <a:cs typeface="Calibri" pitchFamily="34" charset="-120"/>
              </a:rPr>
              <a:t>manual approval</a:t>
            </a:r>
            <a:endParaRPr lang="en-US" sz="1000" dirty="0"/>
          </a:p>
        </p:txBody>
      </p:sp>
      <p:sp>
        <p:nvSpPr>
          <p:cNvPr id="27" name="Shape 25"/>
          <p:cNvSpPr/>
          <p:nvPr/>
        </p:nvSpPr>
        <p:spPr>
          <a:xfrm>
            <a:off x="512064" y="2660904"/>
            <a:ext cx="6748272" cy="1902629"/>
          </a:xfrm>
          <a:prstGeom prst="rect">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pic>
        <p:nvPicPr>
          <p:cNvPr id="28" name="Image 0" descr="C:/Users/Administrator/Desktop/capstone-2/day2/evidence/03_gitlab_pipeline.png">    </p:cNvPr>
          <p:cNvPicPr>
            <a:picLocks noChangeAspect="1"/>
          </p:cNvPicPr>
          <p:nvPr/>
        </p:nvPicPr>
        <p:blipFill>
          <a:blip r:embed="rId1"/>
          <a:stretch>
            <a:fillRect/>
          </a:stretch>
        </p:blipFill>
        <p:spPr>
          <a:xfrm>
            <a:off x="548640" y="2697480"/>
            <a:ext cx="6675120" cy="1829477"/>
          </a:xfrm>
          <a:prstGeom prst="rect">
            <a:avLst/>
          </a:prstGeom>
        </p:spPr>
      </p:pic>
      <p:sp>
        <p:nvSpPr>
          <p:cNvPr id="29" name="Text 26"/>
          <p:cNvSpPr txBox="1"/>
          <p:nvPr/>
        </p:nvSpPr>
        <p:spPr>
          <a:xfrm>
            <a:off x="548640" y="4590965"/>
            <a:ext cx="6675120" cy="274320"/>
          </a:xfrm>
          <a:prstGeom prst="rect">
            <a:avLst/>
          </a:prstGeom>
          <a:noFill/>
          <a:ln/>
        </p:spPr>
        <p:txBody>
          <a:bodyPr wrap="square" lIns="0" tIns="0" rIns="0" bIns="0" rtlCol="0" anchor="t"/>
          <a:lstStyle/>
          <a:p>
            <a:pPr indent="0" marL="0">
              <a:buNone/>
            </a:pPr>
            <a:r>
              <a:rPr lang="en-US" sz="1100" i="1" dirty="0">
                <a:solidFill>
                  <a:srgbClr val="6B6560"/>
                </a:solidFill>
                <a:latin typeface="Calibri" pitchFamily="34" charset="0"/>
                <a:ea typeface="Calibri" pitchFamily="34" charset="-122"/>
                <a:cs typeface="Calibri" pitchFamily="34" charset="-120"/>
              </a:rPr>
              <a:t>Our real run: 10 jobs green, 22 tests reported, production approved</a:t>
            </a:r>
            <a:endParaRPr lang="en-US" sz="1100" dirty="0"/>
          </a:p>
        </p:txBody>
      </p:sp>
      <p:sp>
        <p:nvSpPr>
          <p:cNvPr id="30" name="Shape 27"/>
          <p:cNvSpPr/>
          <p:nvPr/>
        </p:nvSpPr>
        <p:spPr>
          <a:xfrm>
            <a:off x="548640" y="4983480"/>
            <a:ext cx="6675120" cy="1234440"/>
          </a:xfrm>
          <a:prstGeom prst="roundRect">
            <a:avLst>
              <a:gd name="adj" fmla="val 5185"/>
            </a:avLst>
          </a:prstGeom>
          <a:solidFill>
            <a:srgbClr val="FBF1DE"/>
          </a:solidFill>
          <a:ln w="9525">
            <a:solidFill>
              <a:srgbClr val="FBF1DE"/>
            </a:solidFill>
            <a:prstDash val="solid"/>
          </a:ln>
        </p:spPr>
      </p:sp>
      <p:sp>
        <p:nvSpPr>
          <p:cNvPr id="31" name="Text 28"/>
          <p:cNvSpPr txBox="1"/>
          <p:nvPr/>
        </p:nvSpPr>
        <p:spPr>
          <a:xfrm>
            <a:off x="731520" y="5093208"/>
            <a:ext cx="6309360" cy="320040"/>
          </a:xfrm>
          <a:prstGeom prst="rect">
            <a:avLst/>
          </a:prstGeom>
          <a:noFill/>
          <a:ln/>
        </p:spPr>
        <p:txBody>
          <a:bodyPr wrap="square" lIns="0" tIns="0" rIns="0" bIns="0" rtlCol="0" anchor="t"/>
          <a:lstStyle/>
          <a:p>
            <a:pPr indent="0" marL="0">
              <a:buNone/>
            </a:pPr>
            <a:r>
              <a:rPr lang="en-US" sz="1000" b="1" spc="100" kern="0" dirty="0">
                <a:solidFill>
                  <a:srgbClr val="C0582F"/>
                </a:solidFill>
                <a:latin typeface="Calibri" pitchFamily="34" charset="0"/>
                <a:ea typeface="Calibri" pitchFamily="34" charset="-122"/>
                <a:cs typeface="Calibri" pitchFamily="34" charset="-120"/>
              </a:rPr>
              <a:t>THEORY  </a:t>
            </a:r>
            <a:pPr indent="0" marL="0">
              <a:buNone/>
            </a:pPr>
            <a:r>
              <a:rPr lang="en-US" sz="1300" b="1" dirty="0">
                <a:solidFill>
                  <a:srgbClr val="2F2A24"/>
                </a:solidFill>
                <a:latin typeface="Calibri" pitchFamily="34" charset="0"/>
                <a:ea typeface="Calibri" pitchFamily="34" charset="-122"/>
                <a:cs typeface="Calibri" pitchFamily="34" charset="-120"/>
              </a:rPr>
              <a:t>CI vs CD</a:t>
            </a:r>
            <a:endParaRPr lang="en-US" sz="1000" dirty="0"/>
          </a:p>
        </p:txBody>
      </p:sp>
      <p:sp>
        <p:nvSpPr>
          <p:cNvPr id="32" name="Text 29"/>
          <p:cNvSpPr txBox="1"/>
          <p:nvPr/>
        </p:nvSpPr>
        <p:spPr>
          <a:xfrm>
            <a:off x="731520" y="5440680"/>
            <a:ext cx="6309360" cy="6858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Continuous Integration: every push is automatically tested and scanned. Continuous Delivery: the same image is promoted dev → production, with a person approving the last step.</a:t>
            </a:r>
            <a:endParaRPr lang="en-US" sz="1200" dirty="0"/>
          </a:p>
        </p:txBody>
      </p:sp>
      <p:sp>
        <p:nvSpPr>
          <p:cNvPr id="33" name="Shape 30"/>
          <p:cNvSpPr/>
          <p:nvPr/>
        </p:nvSpPr>
        <p:spPr>
          <a:xfrm>
            <a:off x="7498080" y="2651760"/>
            <a:ext cx="4114800" cy="3566160"/>
          </a:xfrm>
          <a:prstGeom prst="roundRect">
            <a:avLst>
              <a:gd name="adj" fmla="val 1795"/>
            </a:avLst>
          </a:prstGeom>
          <a:solidFill>
            <a:srgbClr val="F4F3F0"/>
          </a:solidFill>
          <a:ln w="9525">
            <a:solidFill>
              <a:srgbClr val="F4F3F0"/>
            </a:solidFill>
            <a:prstDash val="solid"/>
          </a:ln>
        </p:spPr>
      </p:sp>
      <p:sp>
        <p:nvSpPr>
          <p:cNvPr id="34" name="Text 31"/>
          <p:cNvSpPr txBox="1"/>
          <p:nvPr/>
        </p:nvSpPr>
        <p:spPr>
          <a:xfrm>
            <a:off x="7726680" y="2788920"/>
            <a:ext cx="3657600" cy="365760"/>
          </a:xfrm>
          <a:prstGeom prst="rect">
            <a:avLst/>
          </a:prstGeom>
          <a:noFill/>
          <a:ln/>
        </p:spPr>
        <p:txBody>
          <a:bodyPr wrap="square" lIns="0" tIns="0" rIns="0" bIns="0" rtlCol="0" anchor="t"/>
          <a:lstStyle/>
          <a:p>
            <a:pPr indent="0" marL="0">
              <a:buNone/>
            </a:pPr>
            <a:r>
              <a:rPr lang="en-US" sz="1600" b="1" dirty="0">
                <a:solidFill>
                  <a:srgbClr val="2F2A24"/>
                </a:solidFill>
                <a:latin typeface="Cambria" pitchFamily="34" charset="0"/>
                <a:ea typeface="Cambria" pitchFamily="34" charset="-122"/>
                <a:cs typeface="Cambria" pitchFamily="34" charset="-120"/>
              </a:rPr>
              <a:t>How we built it</a:t>
            </a:r>
            <a:endParaRPr lang="en-US" sz="1600" dirty="0"/>
          </a:p>
        </p:txBody>
      </p:sp>
      <p:sp>
        <p:nvSpPr>
          <p:cNvPr id="35" name="Text 32"/>
          <p:cNvSpPr txBox="1"/>
          <p:nvPr/>
        </p:nvSpPr>
        <p:spPr>
          <a:xfrm>
            <a:off x="7726680" y="3200400"/>
            <a:ext cx="3749040" cy="2926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Pipeline defined in .gitlab-ci.yml in the repo</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Each job runs in a fresh container on a GitLab runner</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Docker-in-Docker (docker:27 + dind) builds the image and runs the smoke test</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Image tagged with the commit id, pushed to the GitLab registry</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needs: build only after ALL checks pass</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API key = masked, protected variable</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Reports kept as artifacts (evidence)</a:t>
            </a:r>
            <a:endParaRPr lang="en-US" sz="1200" dirty="0"/>
          </a:p>
        </p:txBody>
      </p:sp>
      <p:sp>
        <p:nvSpPr>
          <p:cNvPr id="36" name="Text 33"/>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Jenkins Pipeline</a:t>
            </a:r>
            <a:endParaRPr lang="en-US" sz="3200" dirty="0"/>
          </a:p>
        </p:txBody>
      </p:sp>
      <p:sp>
        <p:nvSpPr>
          <p:cNvPr id="3" name="Shape 1"/>
          <p:cNvSpPr/>
          <p:nvPr/>
        </p:nvSpPr>
        <p:spPr>
          <a:xfrm>
            <a:off x="548640" y="1417320"/>
            <a:ext cx="1691640" cy="658368"/>
          </a:xfrm>
          <a:prstGeom prst="roundRect">
            <a:avLst>
              <a:gd name="adj" fmla="val 9722"/>
            </a:avLst>
          </a:prstGeom>
          <a:solidFill>
            <a:srgbClr val="F4F3F0"/>
          </a:solidFill>
          <a:ln w="9525">
            <a:solidFill>
              <a:srgbClr val="F4F3F0"/>
            </a:solidFill>
            <a:prstDash val="solid"/>
          </a:ln>
        </p:spPr>
      </p:sp>
      <p:sp>
        <p:nvSpPr>
          <p:cNvPr id="4" name="Text 2"/>
          <p:cNvSpPr txBox="1"/>
          <p:nvPr/>
        </p:nvSpPr>
        <p:spPr>
          <a:xfrm>
            <a:off x="548640" y="1417320"/>
            <a:ext cx="1691640" cy="658368"/>
          </a:xfrm>
          <a:prstGeom prst="rect">
            <a:avLst/>
          </a:prstGeom>
          <a:noFill/>
          <a:ln/>
        </p:spPr>
        <p:txBody>
          <a:bodyPr wrap="square" lIns="0" tIns="0" rIns="0" bIns="0" rtlCol="0" anchor="ctr"/>
          <a:lstStyle/>
          <a:p>
            <a:pPr algn="ctr" indent="0" marL="0">
              <a:buNone/>
            </a:pPr>
            <a:r>
              <a:rPr lang="en-US" sz="1300" b="1" dirty="0">
                <a:solidFill>
                  <a:srgbClr val="2F2A24"/>
                </a:solidFill>
                <a:latin typeface="Calibri" pitchFamily="34" charset="0"/>
                <a:ea typeface="Calibri" pitchFamily="34" charset="-122"/>
                <a:cs typeface="Calibri" pitchFamily="34" charset="-120"/>
              </a:rPr>
              <a:t>Checkout</a:t>
            </a:r>
            <a:endParaRPr lang="en-US" sz="1300" dirty="0"/>
          </a:p>
        </p:txBody>
      </p:sp>
      <p:sp>
        <p:nvSpPr>
          <p:cNvPr id="5" name="Shape 3"/>
          <p:cNvSpPr/>
          <p:nvPr/>
        </p:nvSpPr>
        <p:spPr>
          <a:xfrm>
            <a:off x="2258568" y="1746504"/>
            <a:ext cx="146304" cy="0"/>
          </a:xfrm>
          <a:prstGeom prst="line">
            <a:avLst/>
          </a:prstGeom>
          <a:noFill/>
          <a:ln w="19050">
            <a:solidFill>
              <a:srgbClr val="6B6560"/>
            </a:solidFill>
            <a:prstDash val="solid"/>
            <a:tailEnd type="triangle"/>
          </a:ln>
        </p:spPr>
      </p:sp>
      <p:sp>
        <p:nvSpPr>
          <p:cNvPr id="6" name="Shape 4"/>
          <p:cNvSpPr/>
          <p:nvPr/>
        </p:nvSpPr>
        <p:spPr>
          <a:xfrm>
            <a:off x="2423160" y="1417320"/>
            <a:ext cx="1691640" cy="658368"/>
          </a:xfrm>
          <a:prstGeom prst="roundRect">
            <a:avLst>
              <a:gd name="adj" fmla="val 9722"/>
            </a:avLst>
          </a:prstGeom>
          <a:solidFill>
            <a:srgbClr val="F4F3F0"/>
          </a:solidFill>
          <a:ln w="9525">
            <a:solidFill>
              <a:srgbClr val="F4F3F0"/>
            </a:solidFill>
            <a:prstDash val="solid"/>
          </a:ln>
        </p:spPr>
      </p:sp>
      <p:sp>
        <p:nvSpPr>
          <p:cNvPr id="7" name="Text 5"/>
          <p:cNvSpPr txBox="1"/>
          <p:nvPr/>
        </p:nvSpPr>
        <p:spPr>
          <a:xfrm>
            <a:off x="2423160" y="1417320"/>
            <a:ext cx="1691640" cy="658368"/>
          </a:xfrm>
          <a:prstGeom prst="rect">
            <a:avLst/>
          </a:prstGeom>
          <a:noFill/>
          <a:ln/>
        </p:spPr>
        <p:txBody>
          <a:bodyPr wrap="square" lIns="0" tIns="0" rIns="0" bIns="0" rtlCol="0" anchor="ctr"/>
          <a:lstStyle/>
          <a:p>
            <a:pPr algn="ctr" indent="0" marL="0">
              <a:buNone/>
            </a:pPr>
            <a:r>
              <a:rPr lang="en-US" sz="1300" b="1" dirty="0">
                <a:solidFill>
                  <a:srgbClr val="2F2A24"/>
                </a:solidFill>
                <a:latin typeface="Calibri" pitchFamily="34" charset="0"/>
                <a:ea typeface="Calibri" pitchFamily="34" charset="-122"/>
                <a:cs typeface="Calibri" pitchFamily="34" charset="-120"/>
              </a:rPr>
              <a:t>Install</a:t>
            </a:r>
            <a:endParaRPr lang="en-US" sz="1300" dirty="0"/>
          </a:p>
        </p:txBody>
      </p:sp>
      <p:sp>
        <p:nvSpPr>
          <p:cNvPr id="8" name="Shape 6"/>
          <p:cNvSpPr/>
          <p:nvPr/>
        </p:nvSpPr>
        <p:spPr>
          <a:xfrm>
            <a:off x="4133088" y="1746504"/>
            <a:ext cx="146304" cy="0"/>
          </a:xfrm>
          <a:prstGeom prst="line">
            <a:avLst/>
          </a:prstGeom>
          <a:noFill/>
          <a:ln w="19050">
            <a:solidFill>
              <a:srgbClr val="6B6560"/>
            </a:solidFill>
            <a:prstDash val="solid"/>
            <a:tailEnd type="triangle"/>
          </a:ln>
        </p:spPr>
      </p:sp>
      <p:sp>
        <p:nvSpPr>
          <p:cNvPr id="9" name="Shape 7"/>
          <p:cNvSpPr/>
          <p:nvPr/>
        </p:nvSpPr>
        <p:spPr>
          <a:xfrm>
            <a:off x="4297680" y="1417320"/>
            <a:ext cx="1691640" cy="658368"/>
          </a:xfrm>
          <a:prstGeom prst="roundRect">
            <a:avLst>
              <a:gd name="adj" fmla="val 9722"/>
            </a:avLst>
          </a:prstGeom>
          <a:solidFill>
            <a:srgbClr val="F4F3F0"/>
          </a:solidFill>
          <a:ln w="9525">
            <a:solidFill>
              <a:srgbClr val="F4F3F0"/>
            </a:solidFill>
            <a:prstDash val="solid"/>
          </a:ln>
        </p:spPr>
      </p:sp>
      <p:sp>
        <p:nvSpPr>
          <p:cNvPr id="10" name="Text 8"/>
          <p:cNvSpPr txBox="1"/>
          <p:nvPr/>
        </p:nvSpPr>
        <p:spPr>
          <a:xfrm>
            <a:off x="4297680" y="1417320"/>
            <a:ext cx="1691640" cy="658368"/>
          </a:xfrm>
          <a:prstGeom prst="rect">
            <a:avLst/>
          </a:prstGeom>
          <a:noFill/>
          <a:ln/>
        </p:spPr>
        <p:txBody>
          <a:bodyPr wrap="square" lIns="0" tIns="0" rIns="0" bIns="0" rtlCol="0" anchor="ctr"/>
          <a:lstStyle/>
          <a:p>
            <a:pPr algn="ctr" indent="0" marL="0">
              <a:buNone/>
            </a:pPr>
            <a:r>
              <a:rPr lang="en-US" sz="1300" b="1" dirty="0">
                <a:solidFill>
                  <a:srgbClr val="2F2A24"/>
                </a:solidFill>
                <a:latin typeface="Calibri" pitchFamily="34" charset="0"/>
                <a:ea typeface="Calibri" pitchFamily="34" charset="-122"/>
                <a:cs typeface="Calibri" pitchFamily="34" charset="-120"/>
              </a:rPr>
              <a:t>Run tests</a:t>
            </a:r>
            <a:endParaRPr lang="en-US" sz="1300" dirty="0"/>
          </a:p>
        </p:txBody>
      </p:sp>
      <p:sp>
        <p:nvSpPr>
          <p:cNvPr id="11" name="Shape 9"/>
          <p:cNvSpPr/>
          <p:nvPr/>
        </p:nvSpPr>
        <p:spPr>
          <a:xfrm>
            <a:off x="6007608" y="1746504"/>
            <a:ext cx="146304" cy="0"/>
          </a:xfrm>
          <a:prstGeom prst="line">
            <a:avLst/>
          </a:prstGeom>
          <a:noFill/>
          <a:ln w="19050">
            <a:solidFill>
              <a:srgbClr val="6B6560"/>
            </a:solidFill>
            <a:prstDash val="solid"/>
            <a:tailEnd type="triangle"/>
          </a:ln>
        </p:spPr>
      </p:sp>
      <p:sp>
        <p:nvSpPr>
          <p:cNvPr id="12" name="Shape 10"/>
          <p:cNvSpPr/>
          <p:nvPr/>
        </p:nvSpPr>
        <p:spPr>
          <a:xfrm>
            <a:off x="6172200" y="1417320"/>
            <a:ext cx="1691640" cy="658368"/>
          </a:xfrm>
          <a:prstGeom prst="roundRect">
            <a:avLst>
              <a:gd name="adj" fmla="val 9722"/>
            </a:avLst>
          </a:prstGeom>
          <a:solidFill>
            <a:srgbClr val="F4F3F0"/>
          </a:solidFill>
          <a:ln w="9525">
            <a:solidFill>
              <a:srgbClr val="F4F3F0"/>
            </a:solidFill>
            <a:prstDash val="solid"/>
          </a:ln>
        </p:spPr>
      </p:sp>
      <p:sp>
        <p:nvSpPr>
          <p:cNvPr id="13" name="Text 11"/>
          <p:cNvSpPr txBox="1"/>
          <p:nvPr/>
        </p:nvSpPr>
        <p:spPr>
          <a:xfrm>
            <a:off x="6172200" y="1417320"/>
            <a:ext cx="1691640" cy="658368"/>
          </a:xfrm>
          <a:prstGeom prst="rect">
            <a:avLst/>
          </a:prstGeom>
          <a:noFill/>
          <a:ln/>
        </p:spPr>
        <p:txBody>
          <a:bodyPr wrap="square" lIns="0" tIns="0" rIns="0" bIns="0" rtlCol="0" anchor="ctr"/>
          <a:lstStyle/>
          <a:p>
            <a:pPr algn="ctr" indent="0" marL="0">
              <a:buNone/>
            </a:pPr>
            <a:r>
              <a:rPr lang="en-US" sz="1300" b="1" dirty="0">
                <a:solidFill>
                  <a:srgbClr val="2F2A24"/>
                </a:solidFill>
                <a:latin typeface="Calibri" pitchFamily="34" charset="0"/>
                <a:ea typeface="Calibri" pitchFamily="34" charset="-122"/>
                <a:cs typeface="Calibri" pitchFamily="34" charset="-120"/>
              </a:rPr>
              <a:t>Security checks</a:t>
            </a:r>
            <a:endParaRPr lang="en-US" sz="1300" dirty="0"/>
          </a:p>
        </p:txBody>
      </p:sp>
      <p:sp>
        <p:nvSpPr>
          <p:cNvPr id="14" name="Shape 12"/>
          <p:cNvSpPr/>
          <p:nvPr/>
        </p:nvSpPr>
        <p:spPr>
          <a:xfrm>
            <a:off x="7882128" y="1746504"/>
            <a:ext cx="146304" cy="0"/>
          </a:xfrm>
          <a:prstGeom prst="line">
            <a:avLst/>
          </a:prstGeom>
          <a:noFill/>
          <a:ln w="19050">
            <a:solidFill>
              <a:srgbClr val="6B6560"/>
            </a:solidFill>
            <a:prstDash val="solid"/>
            <a:tailEnd type="triangle"/>
          </a:ln>
        </p:spPr>
      </p:sp>
      <p:sp>
        <p:nvSpPr>
          <p:cNvPr id="15" name="Shape 13"/>
          <p:cNvSpPr/>
          <p:nvPr/>
        </p:nvSpPr>
        <p:spPr>
          <a:xfrm>
            <a:off x="8046720" y="1417320"/>
            <a:ext cx="1691640" cy="658368"/>
          </a:xfrm>
          <a:prstGeom prst="roundRect">
            <a:avLst>
              <a:gd name="adj" fmla="val 9722"/>
            </a:avLst>
          </a:prstGeom>
          <a:solidFill>
            <a:srgbClr val="F4F3F0"/>
          </a:solidFill>
          <a:ln w="9525">
            <a:solidFill>
              <a:srgbClr val="F4F3F0"/>
            </a:solidFill>
            <a:prstDash val="solid"/>
          </a:ln>
        </p:spPr>
      </p:sp>
      <p:sp>
        <p:nvSpPr>
          <p:cNvPr id="16" name="Text 14"/>
          <p:cNvSpPr txBox="1"/>
          <p:nvPr/>
        </p:nvSpPr>
        <p:spPr>
          <a:xfrm>
            <a:off x="8046720" y="1417320"/>
            <a:ext cx="1691640" cy="658368"/>
          </a:xfrm>
          <a:prstGeom prst="rect">
            <a:avLst/>
          </a:prstGeom>
          <a:noFill/>
          <a:ln/>
        </p:spPr>
        <p:txBody>
          <a:bodyPr wrap="square" lIns="0" tIns="0" rIns="0" bIns="0" rtlCol="0" anchor="ctr"/>
          <a:lstStyle/>
          <a:p>
            <a:pPr algn="ctr" indent="0" marL="0">
              <a:buNone/>
            </a:pPr>
            <a:r>
              <a:rPr lang="en-US" sz="1300" b="1" dirty="0">
                <a:solidFill>
                  <a:srgbClr val="2F2A24"/>
                </a:solidFill>
                <a:latin typeface="Calibri" pitchFamily="34" charset="0"/>
                <a:ea typeface="Calibri" pitchFamily="34" charset="-122"/>
                <a:cs typeface="Calibri" pitchFamily="34" charset="-120"/>
              </a:rPr>
              <a:t>Build image</a:t>
            </a:r>
            <a:endParaRPr lang="en-US" sz="1300" dirty="0"/>
          </a:p>
        </p:txBody>
      </p:sp>
      <p:sp>
        <p:nvSpPr>
          <p:cNvPr id="17" name="Shape 15"/>
          <p:cNvSpPr/>
          <p:nvPr/>
        </p:nvSpPr>
        <p:spPr>
          <a:xfrm>
            <a:off x="9756648" y="1746504"/>
            <a:ext cx="146304" cy="0"/>
          </a:xfrm>
          <a:prstGeom prst="line">
            <a:avLst/>
          </a:prstGeom>
          <a:noFill/>
          <a:ln w="19050">
            <a:solidFill>
              <a:srgbClr val="6B6560"/>
            </a:solidFill>
            <a:prstDash val="solid"/>
            <a:tailEnd type="triangle"/>
          </a:ln>
        </p:spPr>
      </p:sp>
      <p:sp>
        <p:nvSpPr>
          <p:cNvPr id="18" name="Shape 16"/>
          <p:cNvSpPr/>
          <p:nvPr/>
        </p:nvSpPr>
        <p:spPr>
          <a:xfrm>
            <a:off x="9921240" y="1417320"/>
            <a:ext cx="1691640" cy="658368"/>
          </a:xfrm>
          <a:prstGeom prst="roundRect">
            <a:avLst>
              <a:gd name="adj" fmla="val 9722"/>
            </a:avLst>
          </a:prstGeom>
          <a:solidFill>
            <a:srgbClr val="2F2A24"/>
          </a:solidFill>
          <a:ln w="9525">
            <a:solidFill>
              <a:srgbClr val="2F2A24"/>
            </a:solidFill>
            <a:prstDash val="solid"/>
          </a:ln>
        </p:spPr>
      </p:sp>
      <p:sp>
        <p:nvSpPr>
          <p:cNvPr id="19" name="Text 17"/>
          <p:cNvSpPr txBox="1"/>
          <p:nvPr/>
        </p:nvSpPr>
        <p:spPr>
          <a:xfrm>
            <a:off x="9921240" y="1417320"/>
            <a:ext cx="169164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Publish artifact</a:t>
            </a:r>
            <a:endParaRPr lang="en-US" sz="1300" dirty="0"/>
          </a:p>
        </p:txBody>
      </p:sp>
      <p:sp>
        <p:nvSpPr>
          <p:cNvPr id="20" name="Shape 18"/>
          <p:cNvSpPr/>
          <p:nvPr/>
        </p:nvSpPr>
        <p:spPr>
          <a:xfrm>
            <a:off x="512064" y="2432304"/>
            <a:ext cx="6748272" cy="1740112"/>
          </a:xfrm>
          <a:prstGeom prst="rect">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pic>
        <p:nvPicPr>
          <p:cNvPr id="21" name="Image 0" descr="C:/Users/Administrator/Desktop/capstone-2/day2/evidence/04_jenkins_pipeline.png">    </p:cNvPr>
          <p:cNvPicPr>
            <a:picLocks noChangeAspect="1"/>
          </p:cNvPicPr>
          <p:nvPr/>
        </p:nvPicPr>
        <p:blipFill>
          <a:blip r:embed="rId1"/>
          <a:stretch>
            <a:fillRect/>
          </a:stretch>
        </p:blipFill>
        <p:spPr>
          <a:xfrm>
            <a:off x="548640" y="2468880"/>
            <a:ext cx="6675120" cy="1666960"/>
          </a:xfrm>
          <a:prstGeom prst="rect">
            <a:avLst/>
          </a:prstGeom>
        </p:spPr>
      </p:pic>
      <p:sp>
        <p:nvSpPr>
          <p:cNvPr id="22" name="Text 19"/>
          <p:cNvSpPr txBox="1"/>
          <p:nvPr/>
        </p:nvSpPr>
        <p:spPr>
          <a:xfrm>
            <a:off x="548640" y="4199848"/>
            <a:ext cx="6675120" cy="274320"/>
          </a:xfrm>
          <a:prstGeom prst="rect">
            <a:avLst/>
          </a:prstGeom>
          <a:noFill/>
          <a:ln/>
        </p:spPr>
        <p:txBody>
          <a:bodyPr wrap="square" lIns="0" tIns="0" rIns="0" bIns="0" rtlCol="0" anchor="t"/>
          <a:lstStyle/>
          <a:p>
            <a:pPr indent="0" marL="0">
              <a:buNone/>
            </a:pPr>
            <a:r>
              <a:rPr lang="en-US" sz="1100" i="1" dirty="0">
                <a:solidFill>
                  <a:srgbClr val="6B6560"/>
                </a:solidFill>
                <a:latin typeface="Calibri" pitchFamily="34" charset="0"/>
                <a:ea typeface="Calibri" pitchFamily="34" charset="-122"/>
                <a:cs typeface="Calibri" pitchFamily="34" charset="-120"/>
              </a:rPr>
              <a:t>Builds #1 and #2 green: 22 tests passed, Bandit and pip-audit clean, image built</a:t>
            </a:r>
            <a:endParaRPr lang="en-US" sz="1100" dirty="0"/>
          </a:p>
        </p:txBody>
      </p:sp>
      <p:sp>
        <p:nvSpPr>
          <p:cNvPr id="23" name="Shape 20"/>
          <p:cNvSpPr/>
          <p:nvPr/>
        </p:nvSpPr>
        <p:spPr>
          <a:xfrm>
            <a:off x="548640" y="4754880"/>
            <a:ext cx="6675120" cy="1463040"/>
          </a:xfrm>
          <a:prstGeom prst="roundRect">
            <a:avLst>
              <a:gd name="adj" fmla="val 4375"/>
            </a:avLst>
          </a:prstGeom>
          <a:solidFill>
            <a:srgbClr val="F4F3F0"/>
          </a:solidFill>
          <a:ln w="9525">
            <a:solidFill>
              <a:srgbClr val="F4F3F0"/>
            </a:solidFill>
            <a:prstDash val="solid"/>
          </a:ln>
        </p:spPr>
      </p:sp>
      <p:sp>
        <p:nvSpPr>
          <p:cNvPr id="24" name="Text 21"/>
          <p:cNvSpPr txBox="1"/>
          <p:nvPr/>
        </p:nvSpPr>
        <p:spPr>
          <a:xfrm>
            <a:off x="777240" y="4846320"/>
            <a:ext cx="6217920" cy="1280160"/>
          </a:xfrm>
          <a:prstGeom prst="rect">
            <a:avLst/>
          </a:prstGeom>
          <a:noFill/>
          <a:ln/>
        </p:spPr>
        <p:txBody>
          <a:bodyPr wrap="square" lIns="0" tIns="0" rIns="0" bIns="0" rtlCol="0" anchor="ctr"/>
          <a:lstStyle/>
          <a:p>
            <a:pPr indent="0" marL="0">
              <a:buNone/>
            </a:pPr>
            <a:r>
              <a:rPr lang="en-US" sz="1300" b="1" dirty="0">
                <a:solidFill>
                  <a:srgbClr val="2F2A24"/>
                </a:solidFill>
                <a:latin typeface="Calibri" pitchFamily="34" charset="0"/>
                <a:ea typeface="Calibri" pitchFamily="34" charset="-122"/>
                <a:cs typeface="Calibri" pitchFamily="34" charset="-120"/>
              </a:rPr>
              <a:t>Something we caught: </a:t>
            </a:r>
            <a:pPr indent="0" marL="0">
              <a:buNone/>
            </a:pPr>
            <a:r>
              <a:rPr lang="en-US" sz="1300" dirty="0">
                <a:solidFill>
                  <a:srgbClr val="2B2B2B"/>
                </a:solidFill>
                <a:latin typeface="Calibri" pitchFamily="34" charset="0"/>
                <a:ea typeface="Calibri" pitchFamily="34" charset="-122"/>
                <a:cs typeface="Calibri" pitchFamily="34" charset="-120"/>
              </a:rPr>
              <a:t>in build #1, pip-audit had silently failed because a '| tee' pipe hid its error. We fixed the Jenkinsfile to keep the exit code and upgraded pip, and build #2 showed a real, clean result.</a:t>
            </a:r>
            <a:endParaRPr lang="en-US" sz="1300" dirty="0"/>
          </a:p>
        </p:txBody>
      </p:sp>
      <p:sp>
        <p:nvSpPr>
          <p:cNvPr id="25" name="Shape 22"/>
          <p:cNvSpPr/>
          <p:nvPr/>
        </p:nvSpPr>
        <p:spPr>
          <a:xfrm>
            <a:off x="7498080" y="2468880"/>
            <a:ext cx="4114800" cy="3749040"/>
          </a:xfrm>
          <a:prstGeom prst="roundRect">
            <a:avLst>
              <a:gd name="adj" fmla="val 1707"/>
            </a:avLst>
          </a:prstGeom>
          <a:solidFill>
            <a:srgbClr val="2F2A24"/>
          </a:solidFill>
          <a:ln w="9525">
            <a:solidFill>
              <a:srgbClr val="2F2A24"/>
            </a:solidFill>
            <a:prstDash val="solid"/>
          </a:ln>
        </p:spPr>
      </p:sp>
      <p:sp>
        <p:nvSpPr>
          <p:cNvPr id="26" name="Text 23"/>
          <p:cNvSpPr txBox="1"/>
          <p:nvPr/>
        </p:nvSpPr>
        <p:spPr>
          <a:xfrm>
            <a:off x="7726680" y="2606040"/>
            <a:ext cx="3657600" cy="365760"/>
          </a:xfrm>
          <a:prstGeom prst="rect">
            <a:avLst/>
          </a:prstGeom>
          <a:noFill/>
          <a:ln/>
        </p:spPr>
        <p:txBody>
          <a:bodyPr wrap="square" lIns="0" tIns="0" rIns="0" bIns="0" rtlCol="0" anchor="t"/>
          <a:lstStyle/>
          <a:p>
            <a:pPr indent="0" marL="0">
              <a:buNone/>
            </a:pPr>
            <a:r>
              <a:rPr lang="en-US" sz="1600" b="1" dirty="0">
                <a:solidFill>
                  <a:srgbClr val="F2A07B"/>
                </a:solidFill>
                <a:latin typeface="Cambria" pitchFamily="34" charset="0"/>
                <a:ea typeface="Cambria" pitchFamily="34" charset="-122"/>
                <a:cs typeface="Cambria" pitchFamily="34" charset="-120"/>
              </a:rPr>
              <a:t>How we set it up</a:t>
            </a:r>
            <a:endParaRPr lang="en-US" sz="1600" dirty="0"/>
          </a:p>
        </p:txBody>
      </p:sp>
      <p:sp>
        <p:nvSpPr>
          <p:cNvPr id="27" name="Text 24"/>
          <p:cNvSpPr txBox="1"/>
          <p:nvPr/>
        </p:nvSpPr>
        <p:spPr>
          <a:xfrm>
            <a:off x="7726680" y="3063240"/>
            <a:ext cx="3749040" cy="3063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Jenkins runs in its own container (custom image with Python + Docker CLI)</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Uses the VM's Docker through the mounted docker.sock</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Jenkinsfile in the repo — pipeline as code</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Same tests and security checks as GitLab</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Why keep it: legacy bank systems, and a backup if GitLab is down</a:t>
            </a:r>
            <a:endParaRPr lang="en-US" sz="1250" dirty="0"/>
          </a:p>
        </p:txBody>
      </p:sp>
      <p:sp>
        <p:nvSpPr>
          <p:cNvPr id="28" name="Text 25"/>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Blue –Green Deployment</a:t>
            </a:r>
            <a:endParaRPr lang="en-US" sz="3200" dirty="0"/>
          </a:p>
        </p:txBody>
      </p:sp>
      <p:sp>
        <p:nvSpPr>
          <p:cNvPr id="3" name="Shape 1"/>
          <p:cNvSpPr/>
          <p:nvPr/>
        </p:nvSpPr>
        <p:spPr>
          <a:xfrm>
            <a:off x="548640" y="2148840"/>
            <a:ext cx="1737360" cy="914400"/>
          </a:xfrm>
          <a:prstGeom prst="roundRect">
            <a:avLst>
              <a:gd name="adj" fmla="val 7000"/>
            </a:avLst>
          </a:prstGeom>
          <a:solidFill>
            <a:srgbClr val="F4F3F0"/>
          </a:solidFill>
          <a:ln w="9525">
            <a:solidFill>
              <a:srgbClr val="F4F3F0"/>
            </a:solidFill>
            <a:prstDash val="solid"/>
          </a:ln>
        </p:spPr>
      </p:sp>
      <p:sp>
        <p:nvSpPr>
          <p:cNvPr id="4" name="Text 2"/>
          <p:cNvSpPr txBox="1"/>
          <p:nvPr/>
        </p:nvSpPr>
        <p:spPr>
          <a:xfrm>
            <a:off x="548640" y="2148840"/>
            <a:ext cx="1737360" cy="914400"/>
          </a:xfrm>
          <a:prstGeom prst="rect">
            <a:avLst/>
          </a:prstGeom>
          <a:noFill/>
          <a:ln/>
        </p:spPr>
        <p:txBody>
          <a:bodyPr wrap="square" lIns="0" tIns="0" rIns="0" bIns="0" rtlCol="0" anchor="ctr"/>
          <a:lstStyle/>
          <a:p>
            <a:pPr algn="ctr" indent="0" marL="0">
              <a:buNone/>
            </a:pPr>
            <a:r>
              <a:rPr lang="en-US" sz="1300" b="1" dirty="0">
                <a:solidFill>
                  <a:srgbClr val="2F2A24"/>
                </a:solidFill>
                <a:latin typeface="Calibri" pitchFamily="34" charset="0"/>
                <a:ea typeface="Calibri" pitchFamily="34" charset="-122"/>
                <a:cs typeface="Calibri" pitchFamily="34" charset="-120"/>
              </a:rPr>
              <a:t>Users</a:t>
            </a:r>
            <a:endParaRPr lang="en-US" sz="1300" dirty="0"/>
          </a:p>
          <a:p>
            <a:pPr algn="ctr" indent="0" marL="0">
              <a:buNone/>
            </a:pPr>
            <a:r>
              <a:rPr lang="en-US" sz="1300" b="1" dirty="0">
                <a:solidFill>
                  <a:srgbClr val="2F2A24"/>
                </a:solidFill>
                <a:latin typeface="Calibri" pitchFamily="34" charset="0"/>
                <a:ea typeface="Calibri" pitchFamily="34" charset="-122"/>
                <a:cs typeface="Calibri" pitchFamily="34" charset="-120"/>
              </a:rPr>
              <a:t>dashboard</a:t>
            </a:r>
            <a:endParaRPr lang="en-US" sz="1300" dirty="0"/>
          </a:p>
        </p:txBody>
      </p:sp>
      <p:sp>
        <p:nvSpPr>
          <p:cNvPr id="5" name="Shape 3"/>
          <p:cNvSpPr/>
          <p:nvPr/>
        </p:nvSpPr>
        <p:spPr>
          <a:xfrm>
            <a:off x="2331720" y="2606040"/>
            <a:ext cx="548640" cy="0"/>
          </a:xfrm>
          <a:prstGeom prst="line">
            <a:avLst/>
          </a:prstGeom>
          <a:noFill/>
          <a:ln w="19050">
            <a:solidFill>
              <a:srgbClr val="6B6560"/>
            </a:solidFill>
            <a:prstDash val="solid"/>
            <a:tailEnd type="triangle"/>
          </a:ln>
        </p:spPr>
      </p:sp>
      <p:sp>
        <p:nvSpPr>
          <p:cNvPr id="6" name="Shape 4"/>
          <p:cNvSpPr/>
          <p:nvPr/>
        </p:nvSpPr>
        <p:spPr>
          <a:xfrm>
            <a:off x="2926080" y="2148840"/>
            <a:ext cx="1920240" cy="914400"/>
          </a:xfrm>
          <a:prstGeom prst="roundRect">
            <a:avLst>
              <a:gd name="adj" fmla="val 7000"/>
            </a:avLst>
          </a:prstGeom>
          <a:solidFill>
            <a:srgbClr val="2F2A24"/>
          </a:solidFill>
          <a:ln w="9525">
            <a:solidFill>
              <a:srgbClr val="2F2A24"/>
            </a:solidFill>
            <a:prstDash val="solid"/>
          </a:ln>
          <a:effectLst>
            <a:outerShdw sx="100000" sy="100000" kx="0" ky="0" algn="bl" rotWithShape="0" blurRad="63500" dist="25400" dir="5400000">
              <a:srgbClr val="000000">
                <a:alpha val="10000"/>
              </a:srgbClr>
            </a:outerShdw>
          </a:effectLst>
        </p:spPr>
      </p:sp>
      <p:sp>
        <p:nvSpPr>
          <p:cNvPr id="7" name="Text 5"/>
          <p:cNvSpPr txBox="1"/>
          <p:nvPr/>
        </p:nvSpPr>
        <p:spPr>
          <a:xfrm>
            <a:off x="2926080" y="2148840"/>
            <a:ext cx="192024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Nginx</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load balancer :8090</a:t>
            </a:r>
            <a:endParaRPr lang="en-US" sz="1300" dirty="0"/>
          </a:p>
        </p:txBody>
      </p:sp>
      <p:sp>
        <p:nvSpPr>
          <p:cNvPr id="8" name="Shape 6"/>
          <p:cNvSpPr/>
          <p:nvPr/>
        </p:nvSpPr>
        <p:spPr>
          <a:xfrm flipV="1">
            <a:off x="4892040" y="1965960"/>
            <a:ext cx="640080" cy="457200"/>
          </a:xfrm>
          <a:prstGeom prst="line">
            <a:avLst/>
          </a:prstGeom>
          <a:noFill/>
          <a:ln w="19050">
            <a:solidFill>
              <a:srgbClr val="6B6560"/>
            </a:solidFill>
            <a:prstDash val="solid"/>
            <a:tailEnd type="triangle"/>
          </a:ln>
        </p:spPr>
      </p:sp>
      <p:sp>
        <p:nvSpPr>
          <p:cNvPr id="9" name="Shape 7"/>
          <p:cNvSpPr/>
          <p:nvPr/>
        </p:nvSpPr>
        <p:spPr>
          <a:xfrm>
            <a:off x="4892040" y="2788920"/>
            <a:ext cx="640080" cy="457200"/>
          </a:xfrm>
          <a:prstGeom prst="line">
            <a:avLst/>
          </a:prstGeom>
          <a:noFill/>
          <a:ln w="19050">
            <a:solidFill>
              <a:srgbClr val="3E7C4F"/>
            </a:solidFill>
            <a:prstDash val="solid"/>
            <a:tailEnd type="triangle"/>
          </a:ln>
        </p:spPr>
      </p:sp>
      <p:sp>
        <p:nvSpPr>
          <p:cNvPr id="10" name="Shape 8"/>
          <p:cNvSpPr/>
          <p:nvPr/>
        </p:nvSpPr>
        <p:spPr>
          <a:xfrm>
            <a:off x="5577840" y="1554480"/>
            <a:ext cx="2103120" cy="777240"/>
          </a:xfrm>
          <a:prstGeom prst="roundRect">
            <a:avLst>
              <a:gd name="adj" fmla="val 8235"/>
            </a:avLst>
          </a:prstGeom>
          <a:solidFill>
            <a:srgbClr val="F4F3F0"/>
          </a:solidFill>
          <a:ln w="9525">
            <a:solidFill>
              <a:srgbClr val="F4F3F0"/>
            </a:solidFill>
            <a:prstDash val="solid"/>
          </a:ln>
          <a:effectLst>
            <a:outerShdw sx="100000" sy="100000" kx="0" ky="0" algn="bl" rotWithShape="0" blurRad="63500" dist="25400" dir="5400000">
              <a:srgbClr val="000000">
                <a:alpha val="10000"/>
              </a:srgbClr>
            </a:outerShdw>
          </a:effectLst>
        </p:spPr>
      </p:sp>
      <p:sp>
        <p:nvSpPr>
          <p:cNvPr id="11" name="Text 9"/>
          <p:cNvSpPr txBox="1"/>
          <p:nvPr/>
        </p:nvSpPr>
        <p:spPr>
          <a:xfrm>
            <a:off x="5577840" y="1554480"/>
            <a:ext cx="2103120" cy="777240"/>
          </a:xfrm>
          <a:prstGeom prst="rect">
            <a:avLst/>
          </a:prstGeom>
          <a:noFill/>
          <a:ln/>
        </p:spPr>
        <p:txBody>
          <a:bodyPr wrap="square" lIns="0" tIns="0" rIns="0" bIns="0" rtlCol="0" anchor="ctr"/>
          <a:lstStyle/>
          <a:p>
            <a:pPr algn="ctr" indent="0" marL="0">
              <a:buNone/>
            </a:pPr>
            <a:r>
              <a:rPr lang="en-US" sz="1200" b="1" dirty="0">
                <a:solidFill>
                  <a:srgbClr val="2F2A24"/>
                </a:solidFill>
                <a:latin typeface="Calibri" pitchFamily="34" charset="0"/>
                <a:ea typeface="Calibri" pitchFamily="34" charset="-122"/>
                <a:cs typeface="Calibri" pitchFamily="34" charset="-120"/>
              </a:rPr>
              <a:t>BLUE · V1 1.0.0  :8001</a:t>
            </a:r>
            <a:endParaRPr lang="en-US" sz="1200" dirty="0"/>
          </a:p>
        </p:txBody>
      </p:sp>
      <p:sp>
        <p:nvSpPr>
          <p:cNvPr id="12" name="Shape 10"/>
          <p:cNvSpPr/>
          <p:nvPr/>
        </p:nvSpPr>
        <p:spPr>
          <a:xfrm>
            <a:off x="5577840" y="2880360"/>
            <a:ext cx="2103120" cy="777240"/>
          </a:xfrm>
          <a:prstGeom prst="roundRect">
            <a:avLst>
              <a:gd name="adj" fmla="val 8235"/>
            </a:avLst>
          </a:prstGeom>
          <a:solidFill>
            <a:srgbClr val="EAF3EC"/>
          </a:solidFill>
          <a:ln w="9525">
            <a:solidFill>
              <a:srgbClr val="EAF3EC"/>
            </a:solidFill>
            <a:prstDash val="solid"/>
          </a:ln>
          <a:effectLst>
            <a:outerShdw sx="100000" sy="100000" kx="0" ky="0" algn="bl" rotWithShape="0" blurRad="63500" dist="25400" dir="5400000">
              <a:srgbClr val="000000">
                <a:alpha val="10000"/>
              </a:srgbClr>
            </a:outerShdw>
          </a:effectLst>
        </p:spPr>
      </p:sp>
      <p:sp>
        <p:nvSpPr>
          <p:cNvPr id="13" name="Text 11"/>
          <p:cNvSpPr txBox="1"/>
          <p:nvPr/>
        </p:nvSpPr>
        <p:spPr>
          <a:xfrm>
            <a:off x="5577840" y="2880360"/>
            <a:ext cx="2103120" cy="777240"/>
          </a:xfrm>
          <a:prstGeom prst="rect">
            <a:avLst/>
          </a:prstGeom>
          <a:noFill/>
          <a:ln/>
        </p:spPr>
        <p:txBody>
          <a:bodyPr wrap="square" lIns="0" tIns="0" rIns="0" bIns="0" rtlCol="0" anchor="ctr"/>
          <a:lstStyle/>
          <a:p>
            <a:pPr algn="ctr" indent="0" marL="0">
              <a:buNone/>
            </a:pPr>
            <a:r>
              <a:rPr lang="en-US" sz="1200" b="1" dirty="0">
                <a:solidFill>
                  <a:srgbClr val="3E7C4F"/>
                </a:solidFill>
                <a:latin typeface="Calibri" pitchFamily="34" charset="0"/>
                <a:ea typeface="Calibri" pitchFamily="34" charset="-122"/>
                <a:cs typeface="Calibri" pitchFamily="34" charset="-120"/>
              </a:rPr>
              <a:t>GREEN · V2 2.0.0  :8002</a:t>
            </a:r>
            <a:endParaRPr lang="en-US" sz="1200" dirty="0"/>
          </a:p>
        </p:txBody>
      </p:sp>
      <p:sp>
        <p:nvSpPr>
          <p:cNvPr id="14" name="Shape 12"/>
          <p:cNvSpPr/>
          <p:nvPr/>
        </p:nvSpPr>
        <p:spPr>
          <a:xfrm>
            <a:off x="548640" y="3931920"/>
            <a:ext cx="7132320" cy="1097280"/>
          </a:xfrm>
          <a:prstGeom prst="roundRect">
            <a:avLst>
              <a:gd name="adj" fmla="val 5833"/>
            </a:avLst>
          </a:prstGeom>
          <a:solidFill>
            <a:srgbClr val="FBF1DE"/>
          </a:solidFill>
          <a:ln w="9525">
            <a:solidFill>
              <a:srgbClr val="FBF1DE"/>
            </a:solidFill>
            <a:prstDash val="solid"/>
          </a:ln>
        </p:spPr>
      </p:sp>
      <p:sp>
        <p:nvSpPr>
          <p:cNvPr id="15" name="Text 13"/>
          <p:cNvSpPr txBox="1"/>
          <p:nvPr/>
        </p:nvSpPr>
        <p:spPr>
          <a:xfrm>
            <a:off x="731520" y="4041648"/>
            <a:ext cx="6766560" cy="320040"/>
          </a:xfrm>
          <a:prstGeom prst="rect">
            <a:avLst/>
          </a:prstGeom>
          <a:noFill/>
          <a:ln/>
        </p:spPr>
        <p:txBody>
          <a:bodyPr wrap="square" lIns="0" tIns="0" rIns="0" bIns="0" rtlCol="0" anchor="t"/>
          <a:lstStyle/>
          <a:p>
            <a:pPr indent="0" marL="0">
              <a:buNone/>
            </a:pPr>
            <a:r>
              <a:rPr lang="en-US" sz="1000" b="1" spc="100" kern="0" dirty="0">
                <a:solidFill>
                  <a:srgbClr val="C0582F"/>
                </a:solidFill>
                <a:latin typeface="Calibri" pitchFamily="34" charset="0"/>
                <a:ea typeface="Calibri" pitchFamily="34" charset="-122"/>
                <a:cs typeface="Calibri" pitchFamily="34" charset="-120"/>
              </a:rPr>
              <a:t>THEORY  </a:t>
            </a:r>
            <a:pPr indent="0" marL="0">
              <a:buNone/>
            </a:pPr>
            <a:r>
              <a:rPr lang="en-US" sz="1300" b="1" dirty="0">
                <a:solidFill>
                  <a:srgbClr val="2F2A24"/>
                </a:solidFill>
                <a:latin typeface="Calibri" pitchFamily="34" charset="0"/>
                <a:ea typeface="Calibri" pitchFamily="34" charset="-122"/>
                <a:cs typeface="Calibri" pitchFamily="34" charset="-120"/>
              </a:rPr>
              <a:t>Blue-green</a:t>
            </a:r>
            <a:endParaRPr lang="en-US" sz="1000" dirty="0"/>
          </a:p>
        </p:txBody>
      </p:sp>
      <p:sp>
        <p:nvSpPr>
          <p:cNvPr id="16" name="Text 14"/>
          <p:cNvSpPr txBox="1"/>
          <p:nvPr/>
        </p:nvSpPr>
        <p:spPr>
          <a:xfrm>
            <a:off x="731520" y="4389120"/>
            <a:ext cx="6766560" cy="54864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Two identical environments. Deploy the new version to the idle one, test it with no users on it, then switch all traffic at once. Rollback = switch back, in seconds.</a:t>
            </a:r>
            <a:endParaRPr lang="en-US" sz="1200" dirty="0"/>
          </a:p>
        </p:txBody>
      </p:sp>
      <p:sp>
        <p:nvSpPr>
          <p:cNvPr id="17" name="Shape 15"/>
          <p:cNvSpPr/>
          <p:nvPr/>
        </p:nvSpPr>
        <p:spPr>
          <a:xfrm>
            <a:off x="8046720" y="1554480"/>
            <a:ext cx="3566160" cy="4663440"/>
          </a:xfrm>
          <a:prstGeom prst="roundRect">
            <a:avLst>
              <a:gd name="adj" fmla="val 1795"/>
            </a:avLst>
          </a:prstGeom>
          <a:solidFill>
            <a:srgbClr val="F4F3F0"/>
          </a:solidFill>
          <a:ln w="9525">
            <a:solidFill>
              <a:srgbClr val="F4F3F0"/>
            </a:solidFill>
            <a:prstDash val="solid"/>
          </a:ln>
        </p:spPr>
      </p:sp>
      <p:sp>
        <p:nvSpPr>
          <p:cNvPr id="18" name="Text 16"/>
          <p:cNvSpPr txBox="1"/>
          <p:nvPr/>
        </p:nvSpPr>
        <p:spPr>
          <a:xfrm>
            <a:off x="8275320" y="1691640"/>
            <a:ext cx="3154680" cy="411480"/>
          </a:xfrm>
          <a:prstGeom prst="rect">
            <a:avLst/>
          </a:prstGeom>
          <a:noFill/>
          <a:ln/>
        </p:spPr>
        <p:txBody>
          <a:bodyPr wrap="square" lIns="0" tIns="0" rIns="0" bIns="0" rtlCol="0" anchor="t"/>
          <a:lstStyle/>
          <a:p>
            <a:pPr indent="0" marL="0">
              <a:buNone/>
            </a:pPr>
            <a:r>
              <a:rPr lang="en-US" sz="1500" b="1" dirty="0">
                <a:solidFill>
                  <a:srgbClr val="2F2A24"/>
                </a:solidFill>
                <a:latin typeface="Cambria" pitchFamily="34" charset="0"/>
                <a:ea typeface="Cambria" pitchFamily="34" charset="-122"/>
                <a:cs typeface="Cambria" pitchFamily="34" charset="-120"/>
              </a:rPr>
              <a:t>Checks on green before switching</a:t>
            </a:r>
            <a:endParaRPr lang="en-US" sz="1500" dirty="0"/>
          </a:p>
        </p:txBody>
      </p:sp>
      <p:sp>
        <p:nvSpPr>
          <p:cNvPr id="19" name="Shape 17"/>
          <p:cNvSpPr/>
          <p:nvPr/>
        </p:nvSpPr>
        <p:spPr>
          <a:xfrm>
            <a:off x="8275320" y="2240280"/>
            <a:ext cx="384048" cy="384048"/>
          </a:xfrm>
          <a:prstGeom prst="ellipse">
            <a:avLst/>
          </a:prstGeom>
          <a:solidFill>
            <a:srgbClr val="3E7C4F"/>
          </a:solidFill>
          <a:ln w="12700">
            <a:solidFill>
              <a:srgbClr val="3E7C4F"/>
            </a:solidFill>
            <a:prstDash val="solid"/>
          </a:ln>
        </p:spPr>
      </p:sp>
      <p:sp>
        <p:nvSpPr>
          <p:cNvPr id="20" name="Text 18"/>
          <p:cNvSpPr txBox="1"/>
          <p:nvPr/>
        </p:nvSpPr>
        <p:spPr>
          <a:xfrm>
            <a:off x="827532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8778240" y="2240280"/>
            <a:ext cx="2697480" cy="38404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App is healthy</a:t>
            </a:r>
            <a:endParaRPr lang="en-US" sz="1300" dirty="0"/>
          </a:p>
        </p:txBody>
      </p:sp>
      <p:sp>
        <p:nvSpPr>
          <p:cNvPr id="22" name="Shape 20"/>
          <p:cNvSpPr/>
          <p:nvPr/>
        </p:nvSpPr>
        <p:spPr>
          <a:xfrm>
            <a:off x="8275320" y="2788920"/>
            <a:ext cx="384048" cy="384048"/>
          </a:xfrm>
          <a:prstGeom prst="ellipse">
            <a:avLst/>
          </a:prstGeom>
          <a:solidFill>
            <a:srgbClr val="3E7C4F"/>
          </a:solidFill>
          <a:ln w="12700">
            <a:solidFill>
              <a:srgbClr val="3E7C4F"/>
            </a:solidFill>
            <a:prstDash val="solid"/>
          </a:ln>
        </p:spPr>
      </p:sp>
      <p:sp>
        <p:nvSpPr>
          <p:cNvPr id="23" name="Text 21"/>
          <p:cNvSpPr txBox="1"/>
          <p:nvPr/>
        </p:nvSpPr>
        <p:spPr>
          <a:xfrm>
            <a:off x="827532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8778240" y="2788920"/>
            <a:ext cx="2697480" cy="38404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API answers</a:t>
            </a:r>
            <a:endParaRPr lang="en-US" sz="1300" dirty="0"/>
          </a:p>
        </p:txBody>
      </p:sp>
      <p:sp>
        <p:nvSpPr>
          <p:cNvPr id="25" name="Shape 23"/>
          <p:cNvSpPr/>
          <p:nvPr/>
        </p:nvSpPr>
        <p:spPr>
          <a:xfrm>
            <a:off x="8275320" y="3337560"/>
            <a:ext cx="384048" cy="384048"/>
          </a:xfrm>
          <a:prstGeom prst="ellipse">
            <a:avLst/>
          </a:prstGeom>
          <a:solidFill>
            <a:srgbClr val="3E7C4F"/>
          </a:solidFill>
          <a:ln w="12700">
            <a:solidFill>
              <a:srgbClr val="3E7C4F"/>
            </a:solidFill>
            <a:prstDash val="solid"/>
          </a:ln>
        </p:spPr>
      </p:sp>
      <p:sp>
        <p:nvSpPr>
          <p:cNvPr id="26" name="Text 24"/>
          <p:cNvSpPr txBox="1"/>
          <p:nvPr/>
        </p:nvSpPr>
        <p:spPr>
          <a:xfrm>
            <a:off x="827532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txBox="1"/>
          <p:nvPr/>
        </p:nvSpPr>
        <p:spPr>
          <a:xfrm>
            <a:off x="8778240" y="3337560"/>
            <a:ext cx="2697480" cy="38404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Database reachable</a:t>
            </a:r>
            <a:endParaRPr lang="en-US" sz="1300" dirty="0"/>
          </a:p>
        </p:txBody>
      </p:sp>
      <p:sp>
        <p:nvSpPr>
          <p:cNvPr id="28" name="Shape 26"/>
          <p:cNvSpPr/>
          <p:nvPr/>
        </p:nvSpPr>
        <p:spPr>
          <a:xfrm>
            <a:off x="8275320" y="3886200"/>
            <a:ext cx="384048" cy="384048"/>
          </a:xfrm>
          <a:prstGeom prst="ellipse">
            <a:avLst/>
          </a:prstGeom>
          <a:solidFill>
            <a:srgbClr val="3E7C4F"/>
          </a:solidFill>
          <a:ln w="12700">
            <a:solidFill>
              <a:srgbClr val="3E7C4F"/>
            </a:solidFill>
            <a:prstDash val="solid"/>
          </a:ln>
        </p:spPr>
      </p:sp>
      <p:sp>
        <p:nvSpPr>
          <p:cNvPr id="29" name="Text 27"/>
          <p:cNvSpPr txBox="1"/>
          <p:nvPr/>
        </p:nvSpPr>
        <p:spPr>
          <a:xfrm>
            <a:off x="827532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0" name="Text 28"/>
          <p:cNvSpPr txBox="1"/>
          <p:nvPr/>
        </p:nvSpPr>
        <p:spPr>
          <a:xfrm>
            <a:off x="8778240" y="3886200"/>
            <a:ext cx="2697480" cy="38404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GitLab + Jenkins green</a:t>
            </a:r>
            <a:endParaRPr lang="en-US" sz="1300" dirty="0"/>
          </a:p>
        </p:txBody>
      </p:sp>
      <p:sp>
        <p:nvSpPr>
          <p:cNvPr id="31" name="Shape 29"/>
          <p:cNvSpPr/>
          <p:nvPr/>
        </p:nvSpPr>
        <p:spPr>
          <a:xfrm>
            <a:off x="8275320" y="4434840"/>
            <a:ext cx="384048" cy="384048"/>
          </a:xfrm>
          <a:prstGeom prst="ellipse">
            <a:avLst/>
          </a:prstGeom>
          <a:solidFill>
            <a:srgbClr val="3E7C4F"/>
          </a:solidFill>
          <a:ln w="12700">
            <a:solidFill>
              <a:srgbClr val="3E7C4F"/>
            </a:solidFill>
            <a:prstDash val="solid"/>
          </a:ln>
        </p:spPr>
      </p:sp>
      <p:sp>
        <p:nvSpPr>
          <p:cNvPr id="32" name="Text 30"/>
          <p:cNvSpPr txBox="1"/>
          <p:nvPr/>
        </p:nvSpPr>
        <p:spPr>
          <a:xfrm>
            <a:off x="8275320"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txBox="1"/>
          <p:nvPr/>
        </p:nvSpPr>
        <p:spPr>
          <a:xfrm>
            <a:off x="8778240" y="4434840"/>
            <a:ext cx="2697480" cy="38404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22 / 22 tests</a:t>
            </a:r>
            <a:endParaRPr lang="en-US" sz="1300" dirty="0"/>
          </a:p>
        </p:txBody>
      </p:sp>
      <p:sp>
        <p:nvSpPr>
          <p:cNvPr id="34" name="Shape 32"/>
          <p:cNvSpPr/>
          <p:nvPr/>
        </p:nvSpPr>
        <p:spPr>
          <a:xfrm>
            <a:off x="8275320" y="4983480"/>
            <a:ext cx="384048" cy="384048"/>
          </a:xfrm>
          <a:prstGeom prst="ellipse">
            <a:avLst/>
          </a:prstGeom>
          <a:solidFill>
            <a:srgbClr val="3E7C4F"/>
          </a:solidFill>
          <a:ln w="12700">
            <a:solidFill>
              <a:srgbClr val="3E7C4F"/>
            </a:solidFill>
            <a:prstDash val="solid"/>
          </a:ln>
        </p:spPr>
      </p:sp>
      <p:sp>
        <p:nvSpPr>
          <p:cNvPr id="35" name="Text 33"/>
          <p:cNvSpPr txBox="1"/>
          <p:nvPr/>
        </p:nvSpPr>
        <p:spPr>
          <a:xfrm>
            <a:off x="8275320" y="4983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6" name="Text 34"/>
          <p:cNvSpPr txBox="1"/>
          <p:nvPr/>
        </p:nvSpPr>
        <p:spPr>
          <a:xfrm>
            <a:off x="8778240" y="4983480"/>
            <a:ext cx="2697480" cy="38404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Smoke test</a:t>
            </a:r>
            <a:endParaRPr lang="en-US" sz="1300" dirty="0"/>
          </a:p>
        </p:txBody>
      </p:sp>
      <p:sp>
        <p:nvSpPr>
          <p:cNvPr id="37" name="Shape 35"/>
          <p:cNvSpPr/>
          <p:nvPr/>
        </p:nvSpPr>
        <p:spPr>
          <a:xfrm>
            <a:off x="8275320" y="5532120"/>
            <a:ext cx="384048" cy="384048"/>
          </a:xfrm>
          <a:prstGeom prst="ellipse">
            <a:avLst/>
          </a:prstGeom>
          <a:solidFill>
            <a:srgbClr val="3E7C4F"/>
          </a:solidFill>
          <a:ln w="12700">
            <a:solidFill>
              <a:srgbClr val="3E7C4F"/>
            </a:solidFill>
            <a:prstDash val="solid"/>
          </a:ln>
        </p:spPr>
      </p:sp>
      <p:sp>
        <p:nvSpPr>
          <p:cNvPr id="38" name="Text 36"/>
          <p:cNvSpPr txBox="1"/>
          <p:nvPr/>
        </p:nvSpPr>
        <p:spPr>
          <a:xfrm>
            <a:off x="8275320" y="5532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9" name="Text 37"/>
          <p:cNvSpPr txBox="1"/>
          <p:nvPr/>
        </p:nvSpPr>
        <p:spPr>
          <a:xfrm>
            <a:off x="8778240" y="5532120"/>
            <a:ext cx="2697480" cy="38404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KPI reconciliation 93.72 %</a:t>
            </a:r>
            <a:endParaRPr lang="en-US" sz="1300" dirty="0"/>
          </a:p>
        </p:txBody>
      </p:sp>
      <p:sp>
        <p:nvSpPr>
          <p:cNvPr id="40" name="Text 38"/>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Bad Release Incident</a:t>
            </a:r>
            <a:endParaRPr lang="en-US" sz="3200" dirty="0"/>
          </a:p>
        </p:txBody>
      </p:sp>
      <p:sp>
        <p:nvSpPr>
          <p:cNvPr id="3" name="Shape 1"/>
          <p:cNvSpPr/>
          <p:nvPr/>
        </p:nvSpPr>
        <p:spPr>
          <a:xfrm>
            <a:off x="512064" y="1563624"/>
            <a:ext cx="7479792" cy="3467544"/>
          </a:xfrm>
          <a:prstGeom prst="rect">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pic>
        <p:nvPicPr>
          <p:cNvPr id="4" name="Image 0" descr="C:/Users/Administrator/Desktop/capstone-2/day2/incident/evidence/incident_dashboard.PNG">    </p:cNvPr>
          <p:cNvPicPr>
            <a:picLocks noChangeAspect="1"/>
          </p:cNvPicPr>
          <p:nvPr/>
        </p:nvPicPr>
        <p:blipFill>
          <a:blip r:embed="rId1"/>
          <a:stretch>
            <a:fillRect/>
          </a:stretch>
        </p:blipFill>
        <p:spPr>
          <a:xfrm>
            <a:off x="548640" y="1600200"/>
            <a:ext cx="7406640" cy="3394392"/>
          </a:xfrm>
          <a:prstGeom prst="rect">
            <a:avLst/>
          </a:prstGeom>
        </p:spPr>
      </p:pic>
      <p:sp>
        <p:nvSpPr>
          <p:cNvPr id="5" name="Text 2"/>
          <p:cNvSpPr txBox="1"/>
          <p:nvPr/>
        </p:nvSpPr>
        <p:spPr>
          <a:xfrm>
            <a:off x="548640" y="5058600"/>
            <a:ext cx="7406640" cy="274320"/>
          </a:xfrm>
          <a:prstGeom prst="rect">
            <a:avLst/>
          </a:prstGeom>
          <a:noFill/>
          <a:ln/>
        </p:spPr>
        <p:txBody>
          <a:bodyPr wrap="square" lIns="0" tIns="0" rIns="0" bIns="0" rtlCol="0" anchor="t"/>
          <a:lstStyle/>
          <a:p>
            <a:pPr indent="0" marL="0">
              <a:buNone/>
            </a:pPr>
            <a:r>
              <a:rPr lang="en-US" sz="1100" i="1" dirty="0">
                <a:solidFill>
                  <a:srgbClr val="6B6560"/>
                </a:solidFill>
                <a:latin typeface="Calibri" pitchFamily="34" charset="0"/>
                <a:ea typeface="Calibri" pitchFamily="34" charset="-122"/>
                <a:cs typeface="Calibri" pitchFamily="34" charset="-120"/>
              </a:rPr>
              <a:t>The dashboard after release 2.0.1 replaced the live green environment</a:t>
            </a:r>
            <a:endParaRPr lang="en-US" sz="1100" dirty="0"/>
          </a:p>
        </p:txBody>
      </p:sp>
      <p:sp>
        <p:nvSpPr>
          <p:cNvPr id="6" name="Shape 3"/>
          <p:cNvSpPr/>
          <p:nvPr/>
        </p:nvSpPr>
        <p:spPr>
          <a:xfrm>
            <a:off x="8193024" y="1563624"/>
            <a:ext cx="3456432" cy="1830487"/>
          </a:xfrm>
          <a:prstGeom prst="rect">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pic>
        <p:nvPicPr>
          <p:cNvPr id="7" name="Image 1" descr="C:/Users/Administrator/Desktop/capstone-2/day2/incident/evidence/api_health.PNG">    </p:cNvPr>
          <p:cNvPicPr>
            <a:picLocks noChangeAspect="1"/>
          </p:cNvPicPr>
          <p:nvPr/>
        </p:nvPicPr>
        <p:blipFill>
          <a:blip r:embed="rId2"/>
          <a:stretch>
            <a:fillRect/>
          </a:stretch>
        </p:blipFill>
        <p:spPr>
          <a:xfrm>
            <a:off x="8229600" y="1600200"/>
            <a:ext cx="3383280" cy="1757335"/>
          </a:xfrm>
          <a:prstGeom prst="rect">
            <a:avLst/>
          </a:prstGeom>
        </p:spPr>
      </p:pic>
      <p:sp>
        <p:nvSpPr>
          <p:cNvPr id="8" name="Text 4"/>
          <p:cNvSpPr txBox="1"/>
          <p:nvPr/>
        </p:nvSpPr>
        <p:spPr>
          <a:xfrm>
            <a:off x="8229600" y="3421543"/>
            <a:ext cx="3383280" cy="457200"/>
          </a:xfrm>
          <a:prstGeom prst="rect">
            <a:avLst/>
          </a:prstGeom>
          <a:noFill/>
          <a:ln/>
        </p:spPr>
        <p:txBody>
          <a:bodyPr wrap="square" lIns="0" tIns="0" rIns="0" bIns="0" rtlCol="0" anchor="t"/>
          <a:lstStyle/>
          <a:p>
            <a:pPr indent="0" marL="0">
              <a:buNone/>
            </a:pPr>
            <a:r>
              <a:rPr lang="en-US" sz="1100" i="1" dirty="0">
                <a:solidFill>
                  <a:srgbClr val="6B6560"/>
                </a:solidFill>
                <a:latin typeface="Calibri" pitchFamily="34" charset="0"/>
                <a:ea typeface="Calibri" pitchFamily="34" charset="-122"/>
                <a:cs typeface="Calibri" pitchFamily="34" charset="-120"/>
              </a:rPr>
              <a:t>/health: 200 OK — but version 2.0.1 on settlement_db_v2</a:t>
            </a:r>
            <a:endParaRPr lang="en-US" sz="1100" dirty="0"/>
          </a:p>
        </p:txBody>
      </p:sp>
      <p:sp>
        <p:nvSpPr>
          <p:cNvPr id="9" name="Shape 5"/>
          <p:cNvSpPr/>
          <p:nvPr/>
        </p:nvSpPr>
        <p:spPr>
          <a:xfrm>
            <a:off x="8229600" y="4089055"/>
            <a:ext cx="3383280" cy="914400"/>
          </a:xfrm>
          <a:prstGeom prst="roundRect">
            <a:avLst>
              <a:gd name="adj" fmla="val 7000"/>
            </a:avLst>
          </a:prstGeom>
          <a:solidFill>
            <a:srgbClr val="F9E8E5"/>
          </a:solidFill>
          <a:ln w="9525">
            <a:solidFill>
              <a:srgbClr val="F9E8E5"/>
            </a:solidFill>
            <a:prstDash val="solid"/>
          </a:ln>
          <a:effectLst>
            <a:outerShdw sx="100000" sy="100000" kx="0" ky="0" algn="bl" rotWithShape="0" blurRad="63500" dist="25400" dir="5400000">
              <a:srgbClr val="000000">
                <a:alpha val="10000"/>
              </a:srgbClr>
            </a:outerShdw>
          </a:effectLst>
        </p:spPr>
      </p:sp>
      <p:sp>
        <p:nvSpPr>
          <p:cNvPr id="10" name="Text 6"/>
          <p:cNvSpPr txBox="1"/>
          <p:nvPr/>
        </p:nvSpPr>
        <p:spPr>
          <a:xfrm>
            <a:off x="8412480" y="4198783"/>
            <a:ext cx="3017520" cy="502920"/>
          </a:xfrm>
          <a:prstGeom prst="rect">
            <a:avLst/>
          </a:prstGeom>
          <a:noFill/>
          <a:ln/>
        </p:spPr>
        <p:txBody>
          <a:bodyPr wrap="square" lIns="0" tIns="0" rIns="0" bIns="0" rtlCol="0" anchor="ctr"/>
          <a:lstStyle/>
          <a:p>
            <a:pPr indent="0" marL="0">
              <a:buNone/>
            </a:pPr>
            <a:r>
              <a:rPr lang="en-US" sz="2200" b="1" dirty="0">
                <a:solidFill>
                  <a:srgbClr val="B03A2E"/>
                </a:solidFill>
                <a:latin typeface="Cambria" pitchFamily="34" charset="0"/>
                <a:ea typeface="Cambria" pitchFamily="34" charset="-122"/>
                <a:cs typeface="Cambria" pitchFamily="34" charset="-120"/>
              </a:rPr>
              <a:t>103.98 %</a:t>
            </a:r>
            <a:endParaRPr lang="en-US" sz="2200" dirty="0"/>
          </a:p>
        </p:txBody>
      </p:sp>
      <p:sp>
        <p:nvSpPr>
          <p:cNvPr id="11" name="Text 7"/>
          <p:cNvSpPr txBox="1"/>
          <p:nvPr/>
        </p:nvSpPr>
        <p:spPr>
          <a:xfrm>
            <a:off x="8412480" y="4655983"/>
            <a:ext cx="3017520" cy="301752"/>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settlement rate</a:t>
            </a:r>
            <a:endParaRPr lang="en-US" sz="1200" dirty="0"/>
          </a:p>
        </p:txBody>
      </p:sp>
      <p:sp>
        <p:nvSpPr>
          <p:cNvPr id="12" name="Shape 8"/>
          <p:cNvSpPr/>
          <p:nvPr/>
        </p:nvSpPr>
        <p:spPr>
          <a:xfrm>
            <a:off x="8229600" y="5186335"/>
            <a:ext cx="3383280" cy="914400"/>
          </a:xfrm>
          <a:prstGeom prst="roundRect">
            <a:avLst>
              <a:gd name="adj" fmla="val 7000"/>
            </a:avLst>
          </a:prstGeom>
          <a:solidFill>
            <a:srgbClr val="F9E8E5"/>
          </a:solidFill>
          <a:ln w="9525">
            <a:solidFill>
              <a:srgbClr val="F9E8E5"/>
            </a:solidFill>
            <a:prstDash val="solid"/>
          </a:ln>
          <a:effectLst>
            <a:outerShdw sx="100000" sy="100000" kx="0" ky="0" algn="bl" rotWithShape="0" blurRad="63500" dist="25400" dir="5400000">
              <a:srgbClr val="000000">
                <a:alpha val="10000"/>
              </a:srgbClr>
            </a:outerShdw>
          </a:effectLst>
        </p:spPr>
      </p:sp>
      <p:sp>
        <p:nvSpPr>
          <p:cNvPr id="13" name="Text 9"/>
          <p:cNvSpPr txBox="1"/>
          <p:nvPr/>
        </p:nvSpPr>
        <p:spPr>
          <a:xfrm>
            <a:off x="8412480" y="5296063"/>
            <a:ext cx="3017520" cy="502920"/>
          </a:xfrm>
          <a:prstGeom prst="rect">
            <a:avLst/>
          </a:prstGeom>
          <a:noFill/>
          <a:ln/>
        </p:spPr>
        <p:txBody>
          <a:bodyPr wrap="square" lIns="0" tIns="0" rIns="0" bIns="0" rtlCol="0" anchor="ctr"/>
          <a:lstStyle/>
          <a:p>
            <a:pPr indent="0" marL="0">
              <a:buNone/>
            </a:pPr>
            <a:r>
              <a:rPr lang="en-US" sz="2200" b="1" dirty="0">
                <a:solidFill>
                  <a:srgbClr val="B03A2E"/>
                </a:solidFill>
                <a:latin typeface="Cambria" pitchFamily="34" charset="0"/>
                <a:ea typeface="Cambria" pitchFamily="34" charset="-122"/>
                <a:cs typeface="Cambria" pitchFamily="34" charset="-120"/>
              </a:rPr>
              <a:t>−₹16.5 L</a:t>
            </a:r>
            <a:endParaRPr lang="en-US" sz="2200" dirty="0"/>
          </a:p>
        </p:txBody>
      </p:sp>
      <p:sp>
        <p:nvSpPr>
          <p:cNvPr id="14" name="Text 10"/>
          <p:cNvSpPr txBox="1"/>
          <p:nvPr/>
        </p:nvSpPr>
        <p:spPr>
          <a:xfrm>
            <a:off x="8412480" y="5753263"/>
            <a:ext cx="3017520" cy="301752"/>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settlement gap</a:t>
            </a:r>
            <a:endParaRPr lang="en-US" sz="1200" dirty="0"/>
          </a:p>
        </p:txBody>
      </p:sp>
      <p:sp>
        <p:nvSpPr>
          <p:cNvPr id="15" name="Text 11"/>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Business checks caught it; comparing V1 and V2 explained it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760720" cy="914400"/>
        </p:xfrm>
        <a:graphic>
          <a:graphicData uri="http://schemas.openxmlformats.org/drawingml/2006/table">
            <a:tbl>
              <a:tblPr/>
              <a:tblGrid>
                <a:gridCol w="2103120"/>
                <a:gridCol w="1828800"/>
                <a:gridCol w="1828800"/>
              </a:tblGrid>
              <a:tr h="457200">
                <a:tc>
                  <a:txBody>
                    <a:bodyPr/>
                    <a:lstStyle/>
                    <a:p>
                      <a:pPr algn="l" indent="0" marL="0">
                        <a:buNone/>
                      </a:pP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V1 (blue)</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V2 2.0.1 (green)</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2F2A24"/>
                    </a:solidFill>
                  </a:tcPr>
                </a:tc>
              </a:tr>
              <a:tr h="457200">
                <a:tc>
                  <a:txBody>
                    <a:bodyPr/>
                    <a:lstStyle/>
                    <a:p>
                      <a:pPr algn="l" indent="0" marL="0">
                        <a:buNone/>
                      </a:pPr>
                      <a:r>
                        <a:rPr lang="en-US" sz="1300" b="1" dirty="0">
                          <a:solidFill>
                            <a:srgbClr val="2B2B2B"/>
                          </a:solidFill>
                          <a:latin typeface="Calibri" pitchFamily="34" charset="0"/>
                          <a:ea typeface="Calibri" pitchFamily="34" charset="-122"/>
                          <a:cs typeface="Calibri" pitchFamily="34" charset="-120"/>
                        </a:rPr>
                        <a:t>Payment amount</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B2B2B"/>
                          </a:solidFill>
                          <a:latin typeface="Calibri" pitchFamily="34" charset="0"/>
                          <a:ea typeface="Calibri" pitchFamily="34" charset="-122"/>
                          <a:cs typeface="Calibri" pitchFamily="34" charset="-120"/>
                        </a:rPr>
                        <a:t>₹4,13,42,329</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B2B2B"/>
                          </a:solidFill>
                          <a:latin typeface="Calibri" pitchFamily="34" charset="0"/>
                          <a:ea typeface="Calibri" pitchFamily="34" charset="-122"/>
                          <a:cs typeface="Calibri" pitchFamily="34" charset="-120"/>
                        </a:rPr>
                        <a:t>₹4,13,42,329</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2B2B2B"/>
                          </a:solidFill>
                          <a:latin typeface="Calibri" pitchFamily="34" charset="0"/>
                          <a:ea typeface="Calibri" pitchFamily="34" charset="-122"/>
                          <a:cs typeface="Calibri" pitchFamily="34" charset="-120"/>
                        </a:rPr>
                        <a:t>Settled amount</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algn="r" indent="0" marL="0">
                        <a:buNone/>
                      </a:pPr>
                      <a:r>
                        <a:rPr lang="en-US" sz="1300" dirty="0">
                          <a:solidFill>
                            <a:srgbClr val="2B2B2B"/>
                          </a:solidFill>
                          <a:latin typeface="Calibri" pitchFamily="34" charset="0"/>
                          <a:ea typeface="Calibri" pitchFamily="34" charset="-122"/>
                          <a:cs typeface="Calibri" pitchFamily="34" charset="-120"/>
                        </a:rPr>
                        <a:t>₹3,87,46,904</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algn="r" indent="0" marL="0">
                        <a:buNone/>
                      </a:pPr>
                      <a:r>
                        <a:rPr lang="en-US" sz="1300" dirty="0">
                          <a:solidFill>
                            <a:srgbClr val="B03A2E"/>
                          </a:solidFill>
                          <a:latin typeface="Calibri" pitchFamily="34" charset="0"/>
                          <a:ea typeface="Calibri" pitchFamily="34" charset="-122"/>
                          <a:cs typeface="Calibri" pitchFamily="34" charset="-120"/>
                        </a:rPr>
                        <a:t>₹4,29,88,865</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457200">
                <a:tc>
                  <a:txBody>
                    <a:bodyPr/>
                    <a:lstStyle/>
                    <a:p>
                      <a:pPr algn="l" indent="0" marL="0">
                        <a:buNone/>
                      </a:pPr>
                      <a:r>
                        <a:rPr lang="en-US" sz="1300" b="1" dirty="0">
                          <a:solidFill>
                            <a:srgbClr val="2B2B2B"/>
                          </a:solidFill>
                          <a:latin typeface="Calibri" pitchFamily="34" charset="0"/>
                          <a:ea typeface="Calibri" pitchFamily="34" charset="-122"/>
                          <a:cs typeface="Calibri" pitchFamily="34" charset="-120"/>
                        </a:rPr>
                        <a:t>Settlement rate</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B2B2B"/>
                          </a:solidFill>
                          <a:latin typeface="Calibri" pitchFamily="34" charset="0"/>
                          <a:ea typeface="Calibri" pitchFamily="34" charset="-122"/>
                          <a:cs typeface="Calibri" pitchFamily="34" charset="-120"/>
                        </a:rPr>
                        <a:t>93.72 %</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B03A2E"/>
                          </a:solidFill>
                          <a:latin typeface="Calibri" pitchFamily="34" charset="0"/>
                          <a:ea typeface="Calibri" pitchFamily="34" charset="-122"/>
                          <a:cs typeface="Calibri" pitchFamily="34" charset="-120"/>
                        </a:rPr>
                        <a:t>103.98 %</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2B2B2B"/>
                          </a:solidFill>
                          <a:latin typeface="Calibri" pitchFamily="34" charset="0"/>
                          <a:ea typeface="Calibri" pitchFamily="34" charset="-122"/>
                          <a:cs typeface="Calibri" pitchFamily="34" charset="-120"/>
                        </a:rPr>
                        <a:t>Settlement gap</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algn="r" indent="0" marL="0">
                        <a:buNone/>
                      </a:pPr>
                      <a:r>
                        <a:rPr lang="en-US" sz="1300" dirty="0">
                          <a:solidFill>
                            <a:srgbClr val="2B2B2B"/>
                          </a:solidFill>
                          <a:latin typeface="Calibri" pitchFamily="34" charset="0"/>
                          <a:ea typeface="Calibri" pitchFamily="34" charset="-122"/>
                          <a:cs typeface="Calibri" pitchFamily="34" charset="-120"/>
                        </a:rPr>
                        <a:t>₹25,95,426</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c>
                  <a:txBody>
                    <a:bodyPr/>
                    <a:lstStyle/>
                    <a:p>
                      <a:pPr algn="r" indent="0" marL="0">
                        <a:buNone/>
                      </a:pPr>
                      <a:r>
                        <a:rPr lang="en-US" sz="1300" dirty="0">
                          <a:solidFill>
                            <a:srgbClr val="B03A2E"/>
                          </a:solidFill>
                          <a:latin typeface="Calibri" pitchFamily="34" charset="0"/>
                          <a:ea typeface="Calibri" pitchFamily="34" charset="-122"/>
                          <a:cs typeface="Calibri" pitchFamily="34" charset="-120"/>
                        </a:rPr>
                        <a:t>−₹16,46,536</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4F3F0"/>
                    </a:solidFill>
                  </a:tcPr>
                </a:tc>
              </a:tr>
              <a:tr h="457200">
                <a:tc>
                  <a:txBody>
                    <a:bodyPr/>
                    <a:lstStyle/>
                    <a:p>
                      <a:pPr algn="l" indent="0" marL="0">
                        <a:buNone/>
                      </a:pPr>
                      <a:r>
                        <a:rPr lang="en-US" sz="1300" b="1" dirty="0">
                          <a:solidFill>
                            <a:srgbClr val="2B2B2B"/>
                          </a:solidFill>
                          <a:latin typeface="Calibri" pitchFamily="34" charset="0"/>
                          <a:ea typeface="Calibri" pitchFamily="34" charset="-122"/>
                          <a:cs typeface="Calibri" pitchFamily="34" charset="-120"/>
                        </a:rPr>
                        <a:t>Risky merchants</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B2B2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B03A2E"/>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91440" marB="91440" anchor="ctr">
                    <a:lnL w="6350" cap="flat" cmpd="sng" algn="ctr">
                      <a:solidFill>
                        <a:srgbClr val="DDD9D2"/>
                      </a:solidFill>
                      <a:prstDash val="solid"/>
                      <a:round/>
                      <a:headEnd type="none" w="med" len="med"/>
                      <a:tailEnd type="none" w="med" len="med"/>
                    </a:lnL>
                    <a:lnR w="6350" cap="flat" cmpd="sng" algn="ctr">
                      <a:solidFill>
                        <a:srgbClr val="DDD9D2"/>
                      </a:solidFill>
                      <a:prstDash val="solid"/>
                      <a:round/>
                      <a:headEnd type="none" w="med" len="med"/>
                      <a:tailEnd type="none" w="med" len="med"/>
                    </a:lnR>
                    <a:lnT w="6350" cap="flat" cmpd="sng" algn="ctr">
                      <a:solidFill>
                        <a:srgbClr val="DDD9D2"/>
                      </a:solidFill>
                      <a:prstDash val="solid"/>
                      <a:round/>
                      <a:headEnd type="none" w="med" len="med"/>
                      <a:tailEnd type="none" w="med" len="med"/>
                    </a:lnT>
                    <a:lnB w="6350" cap="flat" cmpd="sng" algn="ctr">
                      <a:solidFill>
                        <a:srgbClr val="DDD9D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434840"/>
            <a:ext cx="5760720" cy="548640"/>
          </a:xfrm>
          <a:prstGeom prst="rect">
            <a:avLst/>
          </a:prstGeom>
          <a:noFill/>
          <a:ln/>
        </p:spPr>
        <p:txBody>
          <a:bodyPr wrap="square" lIns="0" tIns="0" rIns="0" bIns="0" rtlCol="0" anchor="t"/>
          <a:lstStyle/>
          <a:p>
            <a:pPr indent="0" marL="0">
              <a:buNone/>
            </a:pPr>
            <a:r>
              <a:rPr lang="en-US" sz="1300" i="1" dirty="0">
                <a:solidFill>
                  <a:srgbClr val="2F2A24"/>
                </a:solidFill>
                <a:latin typeface="Calibri" pitchFamily="34" charset="0"/>
                <a:ea typeface="Calibri" pitchFamily="34" charset="-122"/>
                <a:cs typeface="Calibri" pitchFamily="34" charset="-120"/>
              </a:rPr>
              <a:t>Same payments in, different settled amount out → the bug is in the calculation, not the data.</a:t>
            </a:r>
            <a:endParaRPr lang="en-US" sz="1300" dirty="0"/>
          </a:p>
        </p:txBody>
      </p:sp>
      <p:sp>
        <p:nvSpPr>
          <p:cNvPr id="5" name="Shape 2"/>
          <p:cNvSpPr/>
          <p:nvPr/>
        </p:nvSpPr>
        <p:spPr>
          <a:xfrm>
            <a:off x="548640" y="5074920"/>
            <a:ext cx="5760720" cy="1143000"/>
          </a:xfrm>
          <a:prstGeom prst="roundRect">
            <a:avLst>
              <a:gd name="adj" fmla="val 5600"/>
            </a:avLst>
          </a:prstGeom>
          <a:solidFill>
            <a:srgbClr val="FBF1DE"/>
          </a:solidFill>
          <a:ln w="9525">
            <a:solidFill>
              <a:srgbClr val="FBF1DE"/>
            </a:solidFill>
            <a:prstDash val="solid"/>
          </a:ln>
        </p:spPr>
      </p:sp>
      <p:sp>
        <p:nvSpPr>
          <p:cNvPr id="6" name="Text 3"/>
          <p:cNvSpPr txBox="1"/>
          <p:nvPr/>
        </p:nvSpPr>
        <p:spPr>
          <a:xfrm>
            <a:off x="731520" y="5184648"/>
            <a:ext cx="5394960" cy="320040"/>
          </a:xfrm>
          <a:prstGeom prst="rect">
            <a:avLst/>
          </a:prstGeom>
          <a:noFill/>
          <a:ln/>
        </p:spPr>
        <p:txBody>
          <a:bodyPr wrap="square" lIns="0" tIns="0" rIns="0" bIns="0" rtlCol="0" anchor="t"/>
          <a:lstStyle/>
          <a:p>
            <a:pPr indent="0" marL="0">
              <a:buNone/>
            </a:pPr>
            <a:r>
              <a:rPr lang="en-US" sz="1000" b="1" spc="100" kern="0" dirty="0">
                <a:solidFill>
                  <a:srgbClr val="C0582F"/>
                </a:solidFill>
                <a:latin typeface="Calibri" pitchFamily="34" charset="0"/>
                <a:ea typeface="Calibri" pitchFamily="34" charset="-122"/>
                <a:cs typeface="Calibri" pitchFamily="34" charset="-120"/>
              </a:rPr>
              <a:t>THEORY  </a:t>
            </a:r>
            <a:pPr indent="0" marL="0">
              <a:buNone/>
            </a:pPr>
            <a:r>
              <a:rPr lang="en-US" sz="1300" b="1" dirty="0">
                <a:solidFill>
                  <a:srgbClr val="2F2A24"/>
                </a:solidFill>
                <a:latin typeface="Calibri" pitchFamily="34" charset="0"/>
                <a:ea typeface="Calibri" pitchFamily="34" charset="-122"/>
                <a:cs typeface="Calibri" pitchFamily="34" charset="-120"/>
              </a:rPr>
              <a:t>Health check vs smoke test</a:t>
            </a:r>
            <a:endParaRPr lang="en-US" sz="1000" dirty="0"/>
          </a:p>
        </p:txBody>
      </p:sp>
      <p:sp>
        <p:nvSpPr>
          <p:cNvPr id="7" name="Text 4"/>
          <p:cNvSpPr txBox="1"/>
          <p:nvPr/>
        </p:nvSpPr>
        <p:spPr>
          <a:xfrm>
            <a:off x="731520" y="5532120"/>
            <a:ext cx="5394960" cy="5943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/health only asks 'is it running?'. Our smoke test and reconciliation ask 'are the numbers right?' — both FAILED: 103.98 %, and ₹4.30 Cr settled vs ₹3.87 Cr in the facts.</a:t>
            </a:r>
            <a:endParaRPr lang="en-US" sz="1200" dirty="0"/>
          </a:p>
        </p:txBody>
      </p:sp>
      <p:sp>
        <p:nvSpPr>
          <p:cNvPr id="8" name="Shape 5"/>
          <p:cNvSpPr/>
          <p:nvPr/>
        </p:nvSpPr>
        <p:spPr>
          <a:xfrm>
            <a:off x="6675120" y="1554480"/>
            <a:ext cx="4937760" cy="1005840"/>
          </a:xfrm>
          <a:prstGeom prst="roundRect">
            <a:avLst>
              <a:gd name="adj" fmla="val 6364"/>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9" name="Shape 6"/>
          <p:cNvSpPr/>
          <p:nvPr/>
        </p:nvSpPr>
        <p:spPr>
          <a:xfrm>
            <a:off x="6858000" y="1856232"/>
            <a:ext cx="384048" cy="384048"/>
          </a:xfrm>
          <a:prstGeom prst="ellipse">
            <a:avLst/>
          </a:prstGeom>
          <a:solidFill>
            <a:srgbClr val="B03A2E"/>
          </a:solidFill>
          <a:ln w="12700">
            <a:solidFill>
              <a:srgbClr val="B03A2E"/>
            </a:solidFill>
            <a:prstDash val="solid"/>
          </a:ln>
        </p:spPr>
      </p:sp>
      <p:sp>
        <p:nvSpPr>
          <p:cNvPr id="10" name="Text 7"/>
          <p:cNvSpPr txBox="1"/>
          <p:nvPr/>
        </p:nvSpPr>
        <p:spPr>
          <a:xfrm>
            <a:off x="6858000"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8"/>
          <p:cNvSpPr txBox="1"/>
          <p:nvPr/>
        </p:nvSpPr>
        <p:spPr>
          <a:xfrm>
            <a:off x="7406640" y="1664208"/>
            <a:ext cx="4069080" cy="347472"/>
          </a:xfrm>
          <a:prstGeom prst="rect">
            <a:avLst/>
          </a:prstGeom>
          <a:noFill/>
          <a:ln/>
        </p:spPr>
        <p:txBody>
          <a:bodyPr wrap="square" lIns="0" tIns="0" rIns="0" bIns="0" rtlCol="0" anchor="t"/>
          <a:lstStyle/>
          <a:p>
            <a:pPr indent="0" marL="0">
              <a:buNone/>
            </a:pPr>
            <a:r>
              <a:rPr lang="en-US" sz="1500" b="1" dirty="0">
                <a:solidFill>
                  <a:srgbClr val="2F2A24"/>
                </a:solidFill>
                <a:latin typeface="Calibri" pitchFamily="34" charset="0"/>
                <a:ea typeface="Calibri" pitchFamily="34" charset="-122"/>
                <a:cs typeface="Calibri" pitchFamily="34" charset="-120"/>
              </a:rPr>
              <a:t>Grain bug</a:t>
            </a:r>
            <a:endParaRPr lang="en-US" sz="1500" dirty="0"/>
          </a:p>
        </p:txBody>
      </p:sp>
      <p:sp>
        <p:nvSpPr>
          <p:cNvPr id="12" name="Text 9"/>
          <p:cNvSpPr txBox="1"/>
          <p:nvPr/>
        </p:nvSpPr>
        <p:spPr>
          <a:xfrm>
            <a:off x="7406640" y="2011680"/>
            <a:ext cx="4069080" cy="50292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The new query joined settlements BEFORE adding them up, so split settlements counted twice</a:t>
            </a:r>
            <a:endParaRPr lang="en-US" sz="1200" dirty="0"/>
          </a:p>
        </p:txBody>
      </p:sp>
      <p:sp>
        <p:nvSpPr>
          <p:cNvPr id="13" name="Shape 10"/>
          <p:cNvSpPr/>
          <p:nvPr/>
        </p:nvSpPr>
        <p:spPr>
          <a:xfrm>
            <a:off x="6675120" y="2724912"/>
            <a:ext cx="4937760" cy="1005840"/>
          </a:xfrm>
          <a:prstGeom prst="roundRect">
            <a:avLst>
              <a:gd name="adj" fmla="val 6364"/>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14" name="Shape 11"/>
          <p:cNvSpPr/>
          <p:nvPr/>
        </p:nvSpPr>
        <p:spPr>
          <a:xfrm>
            <a:off x="6858000" y="3026664"/>
            <a:ext cx="384048" cy="384048"/>
          </a:xfrm>
          <a:prstGeom prst="ellipse">
            <a:avLst/>
          </a:prstGeom>
          <a:solidFill>
            <a:srgbClr val="B03A2E"/>
          </a:solidFill>
          <a:ln w="12700">
            <a:solidFill>
              <a:srgbClr val="B03A2E"/>
            </a:solidFill>
            <a:prstDash val="solid"/>
          </a:ln>
        </p:spPr>
      </p:sp>
      <p:sp>
        <p:nvSpPr>
          <p:cNvPr id="15" name="Text 12"/>
          <p:cNvSpPr txBox="1"/>
          <p:nvPr/>
        </p:nvSpPr>
        <p:spPr>
          <a:xfrm>
            <a:off x="6858000" y="3026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6" name="Text 13"/>
          <p:cNvSpPr txBox="1"/>
          <p:nvPr/>
        </p:nvSpPr>
        <p:spPr>
          <a:xfrm>
            <a:off x="7406640" y="2834640"/>
            <a:ext cx="4069080" cy="347472"/>
          </a:xfrm>
          <a:prstGeom prst="rect">
            <a:avLst/>
          </a:prstGeom>
          <a:noFill/>
          <a:ln/>
        </p:spPr>
        <p:txBody>
          <a:bodyPr wrap="square" lIns="0" tIns="0" rIns="0" bIns="0" rtlCol="0" anchor="t"/>
          <a:lstStyle/>
          <a:p>
            <a:pPr indent="0" marL="0">
              <a:buNone/>
            </a:pPr>
            <a:r>
              <a:rPr lang="en-US" sz="1500" b="1" dirty="0">
                <a:solidFill>
                  <a:srgbClr val="2F2A24"/>
                </a:solidFill>
                <a:latin typeface="Calibri" pitchFamily="34" charset="0"/>
                <a:ea typeface="Calibri" pitchFamily="34" charset="-122"/>
                <a:cs typeface="Calibri" pitchFamily="34" charset="-120"/>
              </a:rPr>
              <a:t>Wrong configuration</a:t>
            </a:r>
            <a:endParaRPr lang="en-US" sz="1500" dirty="0"/>
          </a:p>
        </p:txBody>
      </p:sp>
      <p:sp>
        <p:nvSpPr>
          <p:cNvPr id="17" name="Text 14"/>
          <p:cNvSpPr txBox="1"/>
          <p:nvPr/>
        </p:nvSpPr>
        <p:spPr>
          <a:xfrm>
            <a:off x="7406640" y="3182112"/>
            <a:ext cx="4069080" cy="50292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It read settlement_db_v2 instead of the approved database</a:t>
            </a:r>
            <a:endParaRPr lang="en-US" sz="1200" dirty="0"/>
          </a:p>
        </p:txBody>
      </p:sp>
      <p:sp>
        <p:nvSpPr>
          <p:cNvPr id="18" name="Shape 15"/>
          <p:cNvSpPr/>
          <p:nvPr/>
        </p:nvSpPr>
        <p:spPr>
          <a:xfrm>
            <a:off x="6675120" y="3895344"/>
            <a:ext cx="4937760" cy="1005840"/>
          </a:xfrm>
          <a:prstGeom prst="roundRect">
            <a:avLst>
              <a:gd name="adj" fmla="val 6364"/>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19" name="Shape 16"/>
          <p:cNvSpPr/>
          <p:nvPr/>
        </p:nvSpPr>
        <p:spPr>
          <a:xfrm>
            <a:off x="6858000" y="4197096"/>
            <a:ext cx="384048" cy="384048"/>
          </a:xfrm>
          <a:prstGeom prst="ellipse">
            <a:avLst/>
          </a:prstGeom>
          <a:solidFill>
            <a:srgbClr val="B03A2E"/>
          </a:solidFill>
          <a:ln w="12700">
            <a:solidFill>
              <a:srgbClr val="B03A2E"/>
            </a:solidFill>
            <a:prstDash val="solid"/>
          </a:ln>
        </p:spPr>
      </p:sp>
      <p:sp>
        <p:nvSpPr>
          <p:cNvPr id="20" name="Text 17"/>
          <p:cNvSpPr txBox="1"/>
          <p:nvPr/>
        </p:nvSpPr>
        <p:spPr>
          <a:xfrm>
            <a:off x="6858000" y="4197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1" name="Text 18"/>
          <p:cNvSpPr txBox="1"/>
          <p:nvPr/>
        </p:nvSpPr>
        <p:spPr>
          <a:xfrm>
            <a:off x="7406640" y="4005072"/>
            <a:ext cx="4069080" cy="347472"/>
          </a:xfrm>
          <a:prstGeom prst="rect">
            <a:avLst/>
          </a:prstGeom>
          <a:noFill/>
          <a:ln/>
        </p:spPr>
        <p:txBody>
          <a:bodyPr wrap="square" lIns="0" tIns="0" rIns="0" bIns="0" rtlCol="0" anchor="t"/>
          <a:lstStyle/>
          <a:p>
            <a:pPr indent="0" marL="0">
              <a:buNone/>
            </a:pPr>
            <a:r>
              <a:rPr lang="en-US" sz="1500" b="1" dirty="0">
                <a:solidFill>
                  <a:srgbClr val="2F2A24"/>
                </a:solidFill>
                <a:latin typeface="Calibri" pitchFamily="34" charset="0"/>
                <a:ea typeface="Calibri" pitchFamily="34" charset="-122"/>
                <a:cs typeface="Calibri" pitchFamily="34" charset="-120"/>
              </a:rPr>
              <a:t>Missing guard</a:t>
            </a:r>
            <a:endParaRPr lang="en-US" sz="1500" dirty="0"/>
          </a:p>
        </p:txBody>
      </p:sp>
      <p:sp>
        <p:nvSpPr>
          <p:cNvPr id="22" name="Text 19"/>
          <p:cNvSpPr txBox="1"/>
          <p:nvPr/>
        </p:nvSpPr>
        <p:spPr>
          <a:xfrm>
            <a:off x="7406640" y="4352544"/>
            <a:ext cx="4069080" cy="50292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The 0–100 % check was removed, so the impossible number reached users</a:t>
            </a:r>
            <a:endParaRPr lang="en-US" sz="1200" dirty="0"/>
          </a:p>
        </p:txBody>
      </p:sp>
      <p:sp>
        <p:nvSpPr>
          <p:cNvPr id="23" name="Shape 20"/>
          <p:cNvSpPr/>
          <p:nvPr/>
        </p:nvSpPr>
        <p:spPr>
          <a:xfrm>
            <a:off x="6675120" y="5065776"/>
            <a:ext cx="4937760" cy="1005840"/>
          </a:xfrm>
          <a:prstGeom prst="roundRect">
            <a:avLst>
              <a:gd name="adj" fmla="val 6364"/>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sp>
        <p:nvSpPr>
          <p:cNvPr id="24" name="Shape 21"/>
          <p:cNvSpPr/>
          <p:nvPr/>
        </p:nvSpPr>
        <p:spPr>
          <a:xfrm>
            <a:off x="6858000" y="5367528"/>
            <a:ext cx="384048" cy="384048"/>
          </a:xfrm>
          <a:prstGeom prst="ellipse">
            <a:avLst/>
          </a:prstGeom>
          <a:solidFill>
            <a:srgbClr val="3E7C4F"/>
          </a:solidFill>
          <a:ln w="12700">
            <a:solidFill>
              <a:srgbClr val="3E7C4F"/>
            </a:solidFill>
            <a:prstDash val="solid"/>
          </a:ln>
        </p:spPr>
      </p:sp>
      <p:sp>
        <p:nvSpPr>
          <p:cNvPr id="25" name="Text 22"/>
          <p:cNvSpPr txBox="1"/>
          <p:nvPr/>
        </p:nvSpPr>
        <p:spPr>
          <a:xfrm>
            <a:off x="6858000" y="5367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26" name="Text 23"/>
          <p:cNvSpPr txBox="1"/>
          <p:nvPr/>
        </p:nvSpPr>
        <p:spPr>
          <a:xfrm>
            <a:off x="7406640" y="5175504"/>
            <a:ext cx="4069080" cy="347472"/>
          </a:xfrm>
          <a:prstGeom prst="rect">
            <a:avLst/>
          </a:prstGeom>
          <a:noFill/>
          <a:ln/>
        </p:spPr>
        <p:txBody>
          <a:bodyPr wrap="square" lIns="0" tIns="0" rIns="0" bIns="0" rtlCol="0" anchor="t"/>
          <a:lstStyle/>
          <a:p>
            <a:pPr indent="0" marL="0">
              <a:buNone/>
            </a:pPr>
            <a:r>
              <a:rPr lang="en-US" sz="1500" b="1" dirty="0">
                <a:solidFill>
                  <a:srgbClr val="2F2A24"/>
                </a:solidFill>
                <a:latin typeface="Calibri" pitchFamily="34" charset="0"/>
                <a:ea typeface="Calibri" pitchFamily="34" charset="-122"/>
                <a:cs typeface="Calibri" pitchFamily="34" charset="-120"/>
              </a:rPr>
              <a:t>Date bug — checked</a:t>
            </a:r>
            <a:endParaRPr lang="en-US" sz="1500" dirty="0"/>
          </a:p>
        </p:txBody>
      </p:sp>
      <p:sp>
        <p:nvSpPr>
          <p:cNvPr id="27" name="Text 24"/>
          <p:cNvSpPr txBox="1"/>
          <p:nvPr/>
        </p:nvSpPr>
        <p:spPr>
          <a:xfrm>
            <a:off x="7406640" y="5522976"/>
            <a:ext cx="4069080" cy="50292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Daily totals matched V1, so this one wasn't there</a:t>
            </a:r>
            <a:endParaRPr lang="en-US" sz="1200" dirty="0"/>
          </a:p>
        </p:txBody>
      </p:sp>
      <p:sp>
        <p:nvSpPr>
          <p:cNvPr id="28" name="Text 25"/>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2F2A24"/>
                </a:solidFill>
                <a:latin typeface="Cambria" pitchFamily="34" charset="0"/>
                <a:ea typeface="Cambria" pitchFamily="34" charset="-122"/>
                <a:cs typeface="Cambria" pitchFamily="34" charset="-120"/>
              </a:rPr>
              <a:t>Rollback Scenario</a:t>
            </a:r>
            <a:endParaRPr lang="en-US" sz="3200" dirty="0"/>
          </a:p>
        </p:txBody>
      </p:sp>
      <p:sp>
        <p:nvSpPr>
          <p:cNvPr id="3" name="Shape 1"/>
          <p:cNvSpPr/>
          <p:nvPr/>
        </p:nvSpPr>
        <p:spPr>
          <a:xfrm>
            <a:off x="685800" y="1691640"/>
            <a:ext cx="9418320" cy="0"/>
          </a:xfrm>
          <a:prstGeom prst="line">
            <a:avLst/>
          </a:prstGeom>
          <a:noFill/>
          <a:ln w="25400">
            <a:solidFill>
              <a:srgbClr val="DDD9D2"/>
            </a:solidFill>
            <a:prstDash val="solid"/>
          </a:ln>
        </p:spPr>
      </p:sp>
      <p:sp>
        <p:nvSpPr>
          <p:cNvPr id="4" name="Shape 2"/>
          <p:cNvSpPr/>
          <p:nvPr/>
        </p:nvSpPr>
        <p:spPr>
          <a:xfrm>
            <a:off x="731520" y="1554480"/>
            <a:ext cx="274320" cy="274320"/>
          </a:xfrm>
          <a:prstGeom prst="ellipse">
            <a:avLst/>
          </a:prstGeom>
          <a:solidFill>
            <a:srgbClr val="B03A2E"/>
          </a:solidFill>
          <a:ln w="25400">
            <a:solidFill>
              <a:srgbClr val="FFFFFF"/>
            </a:solidFill>
            <a:prstDash val="solid"/>
          </a:ln>
        </p:spPr>
      </p:sp>
      <p:sp>
        <p:nvSpPr>
          <p:cNvPr id="5" name="Text 3"/>
          <p:cNvSpPr txBox="1"/>
          <p:nvPr/>
        </p:nvSpPr>
        <p:spPr>
          <a:xfrm>
            <a:off x="548640" y="1920240"/>
            <a:ext cx="1783080" cy="320040"/>
          </a:xfrm>
          <a:prstGeom prst="rect">
            <a:avLst/>
          </a:prstGeom>
          <a:noFill/>
          <a:ln/>
        </p:spPr>
        <p:txBody>
          <a:bodyPr wrap="square" lIns="0" tIns="0" rIns="0" bIns="0" rtlCol="0" anchor="t"/>
          <a:lstStyle/>
          <a:p>
            <a:pPr indent="0" marL="0">
              <a:buNone/>
            </a:pPr>
            <a:r>
              <a:rPr lang="en-US" sz="1500" b="1" dirty="0">
                <a:solidFill>
                  <a:srgbClr val="B03A2E"/>
                </a:solidFill>
                <a:latin typeface="Cambria" pitchFamily="34" charset="0"/>
                <a:ea typeface="Cambria" pitchFamily="34" charset="-122"/>
                <a:cs typeface="Cambria" pitchFamily="34" charset="-120"/>
              </a:rPr>
              <a:t>22:05:24</a:t>
            </a:r>
            <a:endParaRPr lang="en-US" sz="1500" dirty="0"/>
          </a:p>
        </p:txBody>
      </p:sp>
      <p:sp>
        <p:nvSpPr>
          <p:cNvPr id="6" name="Text 4"/>
          <p:cNvSpPr txBox="1"/>
          <p:nvPr/>
        </p:nvSpPr>
        <p:spPr>
          <a:xfrm>
            <a:off x="548640" y="2240280"/>
            <a:ext cx="1783080" cy="32004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Bad 2.0.1 goes live</a:t>
            </a:r>
            <a:endParaRPr lang="en-US" sz="1200" dirty="0"/>
          </a:p>
        </p:txBody>
      </p:sp>
      <p:sp>
        <p:nvSpPr>
          <p:cNvPr id="7" name="Shape 5"/>
          <p:cNvSpPr/>
          <p:nvPr/>
        </p:nvSpPr>
        <p:spPr>
          <a:xfrm>
            <a:off x="2596896" y="1554480"/>
            <a:ext cx="274320" cy="274320"/>
          </a:xfrm>
          <a:prstGeom prst="ellipse">
            <a:avLst/>
          </a:prstGeom>
          <a:solidFill>
            <a:srgbClr val="B03A2E"/>
          </a:solidFill>
          <a:ln w="25400">
            <a:solidFill>
              <a:srgbClr val="FFFFFF"/>
            </a:solidFill>
            <a:prstDash val="solid"/>
          </a:ln>
        </p:spPr>
      </p:sp>
      <p:sp>
        <p:nvSpPr>
          <p:cNvPr id="8" name="Text 6"/>
          <p:cNvSpPr txBox="1"/>
          <p:nvPr/>
        </p:nvSpPr>
        <p:spPr>
          <a:xfrm>
            <a:off x="2414016" y="1920240"/>
            <a:ext cx="1783080" cy="320040"/>
          </a:xfrm>
          <a:prstGeom prst="rect">
            <a:avLst/>
          </a:prstGeom>
          <a:noFill/>
          <a:ln/>
        </p:spPr>
        <p:txBody>
          <a:bodyPr wrap="square" lIns="0" tIns="0" rIns="0" bIns="0" rtlCol="0" anchor="t"/>
          <a:lstStyle/>
          <a:p>
            <a:pPr indent="0" marL="0">
              <a:buNone/>
            </a:pPr>
            <a:r>
              <a:rPr lang="en-US" sz="1500" b="1" dirty="0">
                <a:solidFill>
                  <a:srgbClr val="B03A2E"/>
                </a:solidFill>
                <a:latin typeface="Cambria" pitchFamily="34" charset="0"/>
                <a:ea typeface="Cambria" pitchFamily="34" charset="-122"/>
                <a:cs typeface="Cambria" pitchFamily="34" charset="-120"/>
              </a:rPr>
              <a:t>22:06:25</a:t>
            </a:r>
            <a:endParaRPr lang="en-US" sz="1500" dirty="0"/>
          </a:p>
        </p:txBody>
      </p:sp>
      <p:sp>
        <p:nvSpPr>
          <p:cNvPr id="9" name="Text 7"/>
          <p:cNvSpPr txBox="1"/>
          <p:nvPr/>
        </p:nvSpPr>
        <p:spPr>
          <a:xfrm>
            <a:off x="2414016" y="2240280"/>
            <a:ext cx="1783080" cy="32004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Problem spotted</a:t>
            </a:r>
            <a:endParaRPr lang="en-US" sz="1200" dirty="0"/>
          </a:p>
        </p:txBody>
      </p:sp>
      <p:sp>
        <p:nvSpPr>
          <p:cNvPr id="10" name="Shape 8"/>
          <p:cNvSpPr/>
          <p:nvPr/>
        </p:nvSpPr>
        <p:spPr>
          <a:xfrm>
            <a:off x="4462272" y="1554480"/>
            <a:ext cx="274320" cy="274320"/>
          </a:xfrm>
          <a:prstGeom prst="ellipse">
            <a:avLst/>
          </a:prstGeom>
          <a:solidFill>
            <a:srgbClr val="B03A2E"/>
          </a:solidFill>
          <a:ln w="25400">
            <a:solidFill>
              <a:srgbClr val="FFFFFF"/>
            </a:solidFill>
            <a:prstDash val="solid"/>
          </a:ln>
        </p:spPr>
      </p:sp>
      <p:sp>
        <p:nvSpPr>
          <p:cNvPr id="11" name="Text 9"/>
          <p:cNvSpPr txBox="1"/>
          <p:nvPr/>
        </p:nvSpPr>
        <p:spPr>
          <a:xfrm>
            <a:off x="4279392" y="1920240"/>
            <a:ext cx="1783080" cy="320040"/>
          </a:xfrm>
          <a:prstGeom prst="rect">
            <a:avLst/>
          </a:prstGeom>
          <a:noFill/>
          <a:ln/>
        </p:spPr>
        <p:txBody>
          <a:bodyPr wrap="square" lIns="0" tIns="0" rIns="0" bIns="0" rtlCol="0" anchor="t"/>
          <a:lstStyle/>
          <a:p>
            <a:pPr indent="0" marL="0">
              <a:buNone/>
            </a:pPr>
            <a:r>
              <a:rPr lang="en-US" sz="1500" b="1" dirty="0">
                <a:solidFill>
                  <a:srgbClr val="B03A2E"/>
                </a:solidFill>
                <a:latin typeface="Cambria" pitchFamily="34" charset="0"/>
                <a:ea typeface="Cambria" pitchFamily="34" charset="-122"/>
                <a:cs typeface="Cambria" pitchFamily="34" charset="-120"/>
              </a:rPr>
              <a:t>22:06:40</a:t>
            </a:r>
            <a:endParaRPr lang="en-US" sz="1500" dirty="0"/>
          </a:p>
        </p:txBody>
      </p:sp>
      <p:sp>
        <p:nvSpPr>
          <p:cNvPr id="12" name="Text 10"/>
          <p:cNvSpPr txBox="1"/>
          <p:nvPr/>
        </p:nvSpPr>
        <p:spPr>
          <a:xfrm>
            <a:off x="4279392" y="2240280"/>
            <a:ext cx="1783080" cy="32004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Cause found</a:t>
            </a:r>
            <a:endParaRPr lang="en-US" sz="1200" dirty="0"/>
          </a:p>
        </p:txBody>
      </p:sp>
      <p:sp>
        <p:nvSpPr>
          <p:cNvPr id="13" name="Shape 11"/>
          <p:cNvSpPr/>
          <p:nvPr/>
        </p:nvSpPr>
        <p:spPr>
          <a:xfrm>
            <a:off x="6327648" y="1554480"/>
            <a:ext cx="274320" cy="274320"/>
          </a:xfrm>
          <a:prstGeom prst="ellipse">
            <a:avLst/>
          </a:prstGeom>
          <a:solidFill>
            <a:srgbClr val="3E7C4F"/>
          </a:solidFill>
          <a:ln w="25400">
            <a:solidFill>
              <a:srgbClr val="FFFFFF"/>
            </a:solidFill>
            <a:prstDash val="solid"/>
          </a:ln>
        </p:spPr>
      </p:sp>
      <p:sp>
        <p:nvSpPr>
          <p:cNvPr id="14" name="Text 12"/>
          <p:cNvSpPr txBox="1"/>
          <p:nvPr/>
        </p:nvSpPr>
        <p:spPr>
          <a:xfrm>
            <a:off x="6144768" y="1920240"/>
            <a:ext cx="1783080" cy="320040"/>
          </a:xfrm>
          <a:prstGeom prst="rect">
            <a:avLst/>
          </a:prstGeom>
          <a:noFill/>
          <a:ln/>
        </p:spPr>
        <p:txBody>
          <a:bodyPr wrap="square" lIns="0" tIns="0" rIns="0" bIns="0" rtlCol="0" anchor="t"/>
          <a:lstStyle/>
          <a:p>
            <a:pPr indent="0" marL="0">
              <a:buNone/>
            </a:pPr>
            <a:r>
              <a:rPr lang="en-US" sz="1500" b="1" dirty="0">
                <a:solidFill>
                  <a:srgbClr val="3E7C4F"/>
                </a:solidFill>
                <a:latin typeface="Cambria" pitchFamily="34" charset="0"/>
                <a:ea typeface="Cambria" pitchFamily="34" charset="-122"/>
                <a:cs typeface="Cambria" pitchFamily="34" charset="-120"/>
              </a:rPr>
              <a:t>22:13:39</a:t>
            </a:r>
            <a:endParaRPr lang="en-US" sz="1500" dirty="0"/>
          </a:p>
        </p:txBody>
      </p:sp>
      <p:sp>
        <p:nvSpPr>
          <p:cNvPr id="15" name="Text 13"/>
          <p:cNvSpPr txBox="1"/>
          <p:nvPr/>
        </p:nvSpPr>
        <p:spPr>
          <a:xfrm>
            <a:off x="6144768" y="2240280"/>
            <a:ext cx="1783080" cy="32004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Decide: roll back</a:t>
            </a:r>
            <a:endParaRPr lang="en-US" sz="1200" dirty="0"/>
          </a:p>
        </p:txBody>
      </p:sp>
      <p:sp>
        <p:nvSpPr>
          <p:cNvPr id="16" name="Shape 14"/>
          <p:cNvSpPr/>
          <p:nvPr/>
        </p:nvSpPr>
        <p:spPr>
          <a:xfrm>
            <a:off x="8193024" y="1554480"/>
            <a:ext cx="274320" cy="274320"/>
          </a:xfrm>
          <a:prstGeom prst="ellipse">
            <a:avLst/>
          </a:prstGeom>
          <a:solidFill>
            <a:srgbClr val="3E7C4F"/>
          </a:solidFill>
          <a:ln w="25400">
            <a:solidFill>
              <a:srgbClr val="FFFFFF"/>
            </a:solidFill>
            <a:prstDash val="solid"/>
          </a:ln>
        </p:spPr>
      </p:sp>
      <p:sp>
        <p:nvSpPr>
          <p:cNvPr id="17" name="Text 15"/>
          <p:cNvSpPr txBox="1"/>
          <p:nvPr/>
        </p:nvSpPr>
        <p:spPr>
          <a:xfrm>
            <a:off x="8010144" y="1920240"/>
            <a:ext cx="1783080" cy="320040"/>
          </a:xfrm>
          <a:prstGeom prst="rect">
            <a:avLst/>
          </a:prstGeom>
          <a:noFill/>
          <a:ln/>
        </p:spPr>
        <p:txBody>
          <a:bodyPr wrap="square" lIns="0" tIns="0" rIns="0" bIns="0" rtlCol="0" anchor="t"/>
          <a:lstStyle/>
          <a:p>
            <a:pPr indent="0" marL="0">
              <a:buNone/>
            </a:pPr>
            <a:r>
              <a:rPr lang="en-US" sz="1500" b="1" dirty="0">
                <a:solidFill>
                  <a:srgbClr val="3E7C4F"/>
                </a:solidFill>
                <a:latin typeface="Cambria" pitchFamily="34" charset="0"/>
                <a:ea typeface="Cambria" pitchFamily="34" charset="-122"/>
                <a:cs typeface="Cambria" pitchFamily="34" charset="-120"/>
              </a:rPr>
              <a:t>22:13:42</a:t>
            </a:r>
            <a:endParaRPr lang="en-US" sz="1500" dirty="0"/>
          </a:p>
        </p:txBody>
      </p:sp>
      <p:sp>
        <p:nvSpPr>
          <p:cNvPr id="18" name="Text 16"/>
          <p:cNvSpPr txBox="1"/>
          <p:nvPr/>
        </p:nvSpPr>
        <p:spPr>
          <a:xfrm>
            <a:off x="8010144" y="2240280"/>
            <a:ext cx="1783080" cy="32004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V1 back live</a:t>
            </a:r>
            <a:endParaRPr lang="en-US" sz="1200" dirty="0"/>
          </a:p>
        </p:txBody>
      </p:sp>
      <p:sp>
        <p:nvSpPr>
          <p:cNvPr id="19" name="Shape 17"/>
          <p:cNvSpPr/>
          <p:nvPr/>
        </p:nvSpPr>
        <p:spPr>
          <a:xfrm>
            <a:off x="10058400" y="1554480"/>
            <a:ext cx="274320" cy="274320"/>
          </a:xfrm>
          <a:prstGeom prst="ellipse">
            <a:avLst/>
          </a:prstGeom>
          <a:solidFill>
            <a:srgbClr val="3E7C4F"/>
          </a:solidFill>
          <a:ln w="25400">
            <a:solidFill>
              <a:srgbClr val="FFFFFF"/>
            </a:solidFill>
            <a:prstDash val="solid"/>
          </a:ln>
        </p:spPr>
      </p:sp>
      <p:sp>
        <p:nvSpPr>
          <p:cNvPr id="20" name="Text 18"/>
          <p:cNvSpPr txBox="1"/>
          <p:nvPr/>
        </p:nvSpPr>
        <p:spPr>
          <a:xfrm>
            <a:off x="9875520" y="1920240"/>
            <a:ext cx="1783080" cy="320040"/>
          </a:xfrm>
          <a:prstGeom prst="rect">
            <a:avLst/>
          </a:prstGeom>
          <a:noFill/>
          <a:ln/>
        </p:spPr>
        <p:txBody>
          <a:bodyPr wrap="square" lIns="0" tIns="0" rIns="0" bIns="0" rtlCol="0" anchor="t"/>
          <a:lstStyle/>
          <a:p>
            <a:pPr indent="0" marL="0">
              <a:buNone/>
            </a:pPr>
            <a:r>
              <a:rPr lang="en-US" sz="1500" b="1" dirty="0">
                <a:solidFill>
                  <a:srgbClr val="3E7C4F"/>
                </a:solidFill>
                <a:latin typeface="Cambria" pitchFamily="34" charset="0"/>
                <a:ea typeface="Cambria" pitchFamily="34" charset="-122"/>
                <a:cs typeface="Cambria" pitchFamily="34" charset="-120"/>
              </a:rPr>
              <a:t>22:13:51</a:t>
            </a:r>
            <a:endParaRPr lang="en-US" sz="1500" dirty="0"/>
          </a:p>
        </p:txBody>
      </p:sp>
      <p:sp>
        <p:nvSpPr>
          <p:cNvPr id="21" name="Text 19"/>
          <p:cNvSpPr txBox="1"/>
          <p:nvPr/>
        </p:nvSpPr>
        <p:spPr>
          <a:xfrm>
            <a:off x="9875520" y="2240280"/>
            <a:ext cx="1783080" cy="320040"/>
          </a:xfrm>
          <a:prstGeom prst="rect">
            <a:avLst/>
          </a:prstGeom>
          <a:noFill/>
          <a:ln/>
        </p:spPr>
        <p:txBody>
          <a:bodyPr wrap="square" lIns="0" tIns="0" rIns="0" bIns="0" rtlCol="0" anchor="t"/>
          <a:lstStyle/>
          <a:p>
            <a:pPr indent="0" marL="0">
              <a:buNone/>
            </a:pPr>
            <a:r>
              <a:rPr lang="en-US" sz="1200" dirty="0">
                <a:solidFill>
                  <a:srgbClr val="6B6560"/>
                </a:solidFill>
                <a:latin typeface="Calibri" pitchFamily="34" charset="0"/>
                <a:ea typeface="Calibri" pitchFamily="34" charset="-122"/>
                <a:cs typeface="Calibri" pitchFamily="34" charset="-120"/>
              </a:rPr>
              <a:t>Numbers confirmed</a:t>
            </a:r>
            <a:endParaRPr lang="en-US" sz="1200" dirty="0"/>
          </a:p>
        </p:txBody>
      </p:sp>
      <p:sp>
        <p:nvSpPr>
          <p:cNvPr id="22" name="Shape 20"/>
          <p:cNvSpPr/>
          <p:nvPr/>
        </p:nvSpPr>
        <p:spPr>
          <a:xfrm>
            <a:off x="548640" y="2834640"/>
            <a:ext cx="5212080" cy="3383280"/>
          </a:xfrm>
          <a:prstGeom prst="roundRect">
            <a:avLst>
              <a:gd name="adj" fmla="val 1892"/>
            </a:avLst>
          </a:prstGeom>
          <a:solidFill>
            <a:srgbClr val="2F2A24"/>
          </a:solidFill>
          <a:ln w="9525">
            <a:solidFill>
              <a:srgbClr val="2F2A24"/>
            </a:solidFill>
            <a:prstDash val="solid"/>
          </a:ln>
        </p:spPr>
      </p:sp>
      <p:sp>
        <p:nvSpPr>
          <p:cNvPr id="23" name="Text 21"/>
          <p:cNvSpPr txBox="1"/>
          <p:nvPr/>
        </p:nvSpPr>
        <p:spPr>
          <a:xfrm>
            <a:off x="777240" y="2971800"/>
            <a:ext cx="4754880" cy="411480"/>
          </a:xfrm>
          <a:prstGeom prst="rect">
            <a:avLst/>
          </a:prstGeom>
          <a:noFill/>
          <a:ln/>
        </p:spPr>
        <p:txBody>
          <a:bodyPr wrap="square" lIns="0" tIns="0" rIns="0" bIns="0" rtlCol="0" anchor="t"/>
          <a:lstStyle/>
          <a:p>
            <a:pPr indent="0" marL="0">
              <a:buNone/>
            </a:pPr>
            <a:r>
              <a:rPr lang="en-US" sz="1800" b="1" dirty="0">
                <a:solidFill>
                  <a:srgbClr val="F2A07B"/>
                </a:solidFill>
                <a:latin typeface="Cambria" pitchFamily="34" charset="0"/>
                <a:ea typeface="Cambria" pitchFamily="34" charset="-122"/>
                <a:cs typeface="Cambria" pitchFamily="34" charset="-120"/>
              </a:rPr>
              <a:t>What we did</a:t>
            </a:r>
            <a:endParaRPr lang="en-US" sz="1800" dirty="0"/>
          </a:p>
        </p:txBody>
      </p:sp>
      <p:sp>
        <p:nvSpPr>
          <p:cNvPr id="24" name="Text 22"/>
          <p:cNvSpPr txBox="1"/>
          <p:nvPr/>
        </p:nvSpPr>
        <p:spPr>
          <a:xfrm>
            <a:off x="777240" y="3474720"/>
            <a:ext cx="4754880" cy="26974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When the smoke test showed 103.98 % against our 93.72 % baseline, we ran reconciliation and compared the live green (V2 2.0.1) with blue (V1), which was still running. The payments matched but the settled amount did not, and the code diff revealed three defects. With wrong money figures live and V1 proven and one switch away, we rolled back instead of patching live: switch.ps1 blue pointed Nginx back to blue and reloaded it without dropping requests, so V1 was live 3 seconds later. We re-ran the smoke test and reconciliation — both passed at 93.72 % — and kept green isolated for investigation.</a:t>
            </a:r>
            <a:endParaRPr lang="en-US" sz="1400" dirty="0"/>
          </a:p>
        </p:txBody>
      </p:sp>
      <p:sp>
        <p:nvSpPr>
          <p:cNvPr id="25" name="Shape 23"/>
          <p:cNvSpPr/>
          <p:nvPr/>
        </p:nvSpPr>
        <p:spPr>
          <a:xfrm>
            <a:off x="6044184" y="2843784"/>
            <a:ext cx="5605272" cy="2426498"/>
          </a:xfrm>
          <a:prstGeom prst="rect">
            <a:avLst/>
          </a:prstGeom>
          <a:solidFill>
            <a:srgbClr val="FFFFFF"/>
          </a:solidFill>
          <a:ln w="9525">
            <a:solidFill>
              <a:srgbClr val="DDD9D2"/>
            </a:solidFill>
            <a:prstDash val="solid"/>
          </a:ln>
          <a:effectLst>
            <a:outerShdw sx="100000" sy="100000" kx="0" ky="0" algn="bl" rotWithShape="0" blurRad="63500" dist="25400" dir="5400000">
              <a:srgbClr val="000000">
                <a:alpha val="10000"/>
              </a:srgbClr>
            </a:outerShdw>
          </a:effectLst>
        </p:spPr>
      </p:sp>
      <p:pic>
        <p:nvPicPr>
          <p:cNvPr id="26" name="Image 0" descr="C:/Users/Administrator/Desktop/capstone-2/day2/incident/evidence/after_rollback.PNG">    </p:cNvPr>
          <p:cNvPicPr>
            <a:picLocks noChangeAspect="1"/>
          </p:cNvPicPr>
          <p:nvPr/>
        </p:nvPicPr>
        <p:blipFill>
          <a:blip r:embed="rId1"/>
          <a:stretch>
            <a:fillRect/>
          </a:stretch>
        </p:blipFill>
        <p:spPr>
          <a:xfrm>
            <a:off x="6080760" y="2880360"/>
            <a:ext cx="5532120" cy="2353346"/>
          </a:xfrm>
          <a:prstGeom prst="rect">
            <a:avLst/>
          </a:prstGeom>
        </p:spPr>
      </p:pic>
      <p:sp>
        <p:nvSpPr>
          <p:cNvPr id="27" name="Text 24"/>
          <p:cNvSpPr txBox="1"/>
          <p:nvPr/>
        </p:nvSpPr>
        <p:spPr>
          <a:xfrm>
            <a:off x="6080760" y="5297714"/>
            <a:ext cx="5532120" cy="365760"/>
          </a:xfrm>
          <a:prstGeom prst="rect">
            <a:avLst/>
          </a:prstGeom>
          <a:noFill/>
          <a:ln/>
        </p:spPr>
        <p:txBody>
          <a:bodyPr wrap="square" lIns="0" tIns="0" rIns="0" bIns="0" rtlCol="0" anchor="t"/>
          <a:lstStyle/>
          <a:p>
            <a:pPr indent="0" marL="0">
              <a:buNone/>
            </a:pPr>
            <a:r>
              <a:rPr lang="en-US" sz="1100" i="1" dirty="0">
                <a:solidFill>
                  <a:srgbClr val="6B6560"/>
                </a:solidFill>
                <a:latin typeface="Calibri" pitchFamily="34" charset="0"/>
                <a:ea typeface="Calibri" pitchFamily="34" charset="-122"/>
                <a:cs typeface="Calibri" pitchFamily="34" charset="-120"/>
              </a:rPr>
              <a:t>After rollback: 93.72 %, gap ₹25,95,426 — smoke test and reconciliation PASS</a:t>
            </a:r>
            <a:endParaRPr lang="en-US" sz="1100" dirty="0"/>
          </a:p>
        </p:txBody>
      </p:sp>
      <p:sp>
        <p:nvSpPr>
          <p:cNvPr id="28" name="Text 25"/>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900" dirty="0">
                <a:solidFill>
                  <a:srgbClr val="6B656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F2A24"/>
        </a:solidFill>
      </p:bgPr>
    </p:bg>
    <p:spTree>
      <p:nvGrpSpPr>
        <p:cNvPr id="1" name=""/>
        <p:cNvGrpSpPr/>
        <p:nvPr/>
      </p:nvGrpSpPr>
      <p:grpSpPr>
        <a:xfrm>
          <a:off x="0" y="0"/>
          <a:ext cx="0" cy="0"/>
          <a:chOff x="0" y="0"/>
          <a:chExt cx="0" cy="0"/>
        </a:xfrm>
      </p:grpSpPr>
      <p:sp>
        <p:nvSpPr>
          <p:cNvPr id="2" name="Text 0"/>
          <p:cNvSpPr txBox="1"/>
          <p:nvPr/>
        </p:nvSpPr>
        <p:spPr>
          <a:xfrm>
            <a:off x="731520" y="548640"/>
            <a:ext cx="7315200" cy="320040"/>
          </a:xfrm>
          <a:prstGeom prst="rect">
            <a:avLst/>
          </a:prstGeom>
          <a:noFill/>
          <a:ln/>
        </p:spPr>
        <p:txBody>
          <a:bodyPr wrap="square" lIns="0" tIns="0" rIns="0" bIns="0" rtlCol="0" anchor="t"/>
          <a:lstStyle/>
          <a:p>
            <a:pPr indent="0" marL="0">
              <a:buNone/>
            </a:pPr>
            <a:r>
              <a:rPr lang="en-US" sz="1300" b="1" spc="300" kern="0" dirty="0">
                <a:solidFill>
                  <a:srgbClr val="C0582F"/>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731520" y="914400"/>
            <a:ext cx="1069848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From an unexplained gap to a platform people can trust</a:t>
            </a:r>
            <a:endParaRPr lang="en-US" sz="3000" dirty="0"/>
          </a:p>
        </p:txBody>
      </p:sp>
      <p:sp>
        <p:nvSpPr>
          <p:cNvPr id="4" name="Text 2"/>
          <p:cNvSpPr txBox="1"/>
          <p:nvPr/>
        </p:nvSpPr>
        <p:spPr>
          <a:xfrm>
            <a:off x="731520" y="1874520"/>
            <a:ext cx="10698480" cy="3200400"/>
          </a:xfrm>
          <a:prstGeom prst="rect">
            <a:avLst/>
          </a:prstGeom>
          <a:noFill/>
          <a:ln/>
        </p:spPr>
        <p:txBody>
          <a:bodyPr wrap="square" lIns="0" tIns="0" rIns="0" bIns="0" rtlCol="0" anchor="t"/>
          <a:lstStyle/>
          <a:p>
            <a:pPr indent="0" marL="0">
              <a:buNone/>
            </a:pPr>
            <a:r>
              <a:rPr lang="en-US" sz="1650" dirty="0">
                <a:solidFill>
                  <a:srgbClr val="EADFD3"/>
                </a:solidFill>
                <a:latin typeface="Calibri" pitchFamily="34" charset="0"/>
                <a:ea typeface="Calibri" pitchFamily="34" charset="-122"/>
                <a:cs typeface="Calibri" pitchFamily="34" charset="-120"/>
              </a:rPr>
              <a:t>Operations could not explain why ₹2.2 Cr of successful payments had not reached merchants. We brought the four source files into a DuckDB warehouse through a Bronze–Silver–Gold pipeline that loads data incrementally, logs every bad record, and handles the traps in the data: split settlements, late and out-of-order events, and changing merchant risk. A star schema and daily KPI table feed a secure FastAPI service and dashboard that show a 93.72 % settlement rate, a ₹25.95 L gap and the merchants behind it. To make it production-ready, every change passes 22 automated tests, four security scans (Bandit, Gitleaks, pip-audit, Trivy), a Docker build, a business smoke test and reconciliation in GitLab CI, with Jenkins as a backup, before a manual approval releases it through blue-green deployment. When a faulty release pushed the rate to an impossible 103.98 % while /health still said OK, our business checks caught it within a minute, and we rolled back to the proven version in 3 seconds and verified the numbers. The bank now has clear visibility of settlements, numbers backed by evidence, and releases that are safe to ship and quick to undo.</a:t>
            </a:r>
            <a:endParaRPr lang="en-US" sz="1650" dirty="0"/>
          </a:p>
        </p:txBody>
      </p:sp>
      <p:sp>
        <p:nvSpPr>
          <p:cNvPr id="5" name="Shape 3"/>
          <p:cNvSpPr/>
          <p:nvPr/>
        </p:nvSpPr>
        <p:spPr>
          <a:xfrm>
            <a:off x="731520" y="5257800"/>
            <a:ext cx="2560320" cy="960120"/>
          </a:xfrm>
          <a:prstGeom prst="roundRect">
            <a:avLst>
              <a:gd name="adj" fmla="val 6667"/>
            </a:avLst>
          </a:prstGeom>
          <a:solidFill>
            <a:srgbClr val="433C34"/>
          </a:solidFill>
          <a:ln w="12700">
            <a:solidFill>
              <a:srgbClr val="433C34"/>
            </a:solidFill>
            <a:prstDash val="solid"/>
          </a:ln>
        </p:spPr>
      </p:sp>
      <p:sp>
        <p:nvSpPr>
          <p:cNvPr id="6" name="Text 4"/>
          <p:cNvSpPr txBox="1"/>
          <p:nvPr/>
        </p:nvSpPr>
        <p:spPr>
          <a:xfrm>
            <a:off x="914400" y="5330952"/>
            <a:ext cx="2194560" cy="457200"/>
          </a:xfrm>
          <a:prstGeom prst="rect">
            <a:avLst/>
          </a:prstGeom>
          <a:noFill/>
          <a:ln/>
        </p:spPr>
        <p:txBody>
          <a:bodyPr wrap="square" lIns="0" tIns="0" rIns="0" bIns="0" rtlCol="0" anchor="ctr"/>
          <a:lstStyle/>
          <a:p>
            <a:pPr indent="0" marL="0">
              <a:buNone/>
            </a:pPr>
            <a:r>
              <a:rPr lang="en-US" sz="2200" b="1" dirty="0">
                <a:solidFill>
                  <a:srgbClr val="F2A07B"/>
                </a:solidFill>
                <a:latin typeface="Cambria" pitchFamily="34" charset="0"/>
                <a:ea typeface="Cambria" pitchFamily="34" charset="-122"/>
                <a:cs typeface="Cambria" pitchFamily="34" charset="-120"/>
              </a:rPr>
              <a:t>93.72 %</a:t>
            </a:r>
            <a:endParaRPr lang="en-US" sz="2200" dirty="0"/>
          </a:p>
        </p:txBody>
      </p:sp>
      <p:sp>
        <p:nvSpPr>
          <p:cNvPr id="7" name="Text 5"/>
          <p:cNvSpPr txBox="1"/>
          <p:nvPr/>
        </p:nvSpPr>
        <p:spPr>
          <a:xfrm>
            <a:off x="914400" y="5806440"/>
            <a:ext cx="2194560" cy="320040"/>
          </a:xfrm>
          <a:prstGeom prst="rect">
            <a:avLst/>
          </a:prstGeom>
          <a:noFill/>
          <a:ln/>
        </p:spPr>
        <p:txBody>
          <a:bodyPr wrap="square" lIns="0" tIns="0" rIns="0" bIns="0" rtlCol="0" anchor="t"/>
          <a:lstStyle/>
          <a:p>
            <a:pPr indent="0" marL="0">
              <a:buNone/>
            </a:pPr>
            <a:r>
              <a:rPr lang="en-US" sz="1150" dirty="0">
                <a:solidFill>
                  <a:srgbClr val="EADFD3"/>
                </a:solidFill>
                <a:latin typeface="Calibri" pitchFamily="34" charset="0"/>
                <a:ea typeface="Calibri" pitchFamily="34" charset="-122"/>
                <a:cs typeface="Calibri" pitchFamily="34" charset="-120"/>
              </a:rPr>
              <a:t>settlement rate explained</a:t>
            </a:r>
            <a:endParaRPr lang="en-US" sz="1150" dirty="0"/>
          </a:p>
        </p:txBody>
      </p:sp>
      <p:sp>
        <p:nvSpPr>
          <p:cNvPr id="8" name="Shape 6"/>
          <p:cNvSpPr/>
          <p:nvPr/>
        </p:nvSpPr>
        <p:spPr>
          <a:xfrm>
            <a:off x="3465576" y="5257800"/>
            <a:ext cx="2560320" cy="960120"/>
          </a:xfrm>
          <a:prstGeom prst="roundRect">
            <a:avLst>
              <a:gd name="adj" fmla="val 6667"/>
            </a:avLst>
          </a:prstGeom>
          <a:solidFill>
            <a:srgbClr val="433C34"/>
          </a:solidFill>
          <a:ln w="12700">
            <a:solidFill>
              <a:srgbClr val="433C34"/>
            </a:solidFill>
            <a:prstDash val="solid"/>
          </a:ln>
        </p:spPr>
      </p:sp>
      <p:sp>
        <p:nvSpPr>
          <p:cNvPr id="9" name="Text 7"/>
          <p:cNvSpPr txBox="1"/>
          <p:nvPr/>
        </p:nvSpPr>
        <p:spPr>
          <a:xfrm>
            <a:off x="3648456" y="5330952"/>
            <a:ext cx="2194560" cy="457200"/>
          </a:xfrm>
          <a:prstGeom prst="rect">
            <a:avLst/>
          </a:prstGeom>
          <a:noFill/>
          <a:ln/>
        </p:spPr>
        <p:txBody>
          <a:bodyPr wrap="square" lIns="0" tIns="0" rIns="0" bIns="0" rtlCol="0" anchor="ctr"/>
          <a:lstStyle/>
          <a:p>
            <a:pPr indent="0" marL="0">
              <a:buNone/>
            </a:pPr>
            <a:r>
              <a:rPr lang="en-US" sz="2200" b="1" dirty="0">
                <a:solidFill>
                  <a:srgbClr val="F2A07B"/>
                </a:solidFill>
                <a:latin typeface="Cambria" pitchFamily="34" charset="0"/>
                <a:ea typeface="Cambria" pitchFamily="34" charset="-122"/>
                <a:cs typeface="Cambria" pitchFamily="34" charset="-120"/>
              </a:rPr>
              <a:t>22 / 22</a:t>
            </a:r>
            <a:endParaRPr lang="en-US" sz="2200" dirty="0"/>
          </a:p>
        </p:txBody>
      </p:sp>
      <p:sp>
        <p:nvSpPr>
          <p:cNvPr id="10" name="Text 8"/>
          <p:cNvSpPr txBox="1"/>
          <p:nvPr/>
        </p:nvSpPr>
        <p:spPr>
          <a:xfrm>
            <a:off x="3648456" y="5806440"/>
            <a:ext cx="2194560" cy="320040"/>
          </a:xfrm>
          <a:prstGeom prst="rect">
            <a:avLst/>
          </a:prstGeom>
          <a:noFill/>
          <a:ln/>
        </p:spPr>
        <p:txBody>
          <a:bodyPr wrap="square" lIns="0" tIns="0" rIns="0" bIns="0" rtlCol="0" anchor="t"/>
          <a:lstStyle/>
          <a:p>
            <a:pPr indent="0" marL="0">
              <a:buNone/>
            </a:pPr>
            <a:r>
              <a:rPr lang="en-US" sz="1150" dirty="0">
                <a:solidFill>
                  <a:srgbClr val="EADFD3"/>
                </a:solidFill>
                <a:latin typeface="Calibri" pitchFamily="34" charset="0"/>
                <a:ea typeface="Calibri" pitchFamily="34" charset="-122"/>
                <a:cs typeface="Calibri" pitchFamily="34" charset="-120"/>
              </a:rPr>
              <a:t>tests passed</a:t>
            </a:r>
            <a:endParaRPr lang="en-US" sz="1150" dirty="0"/>
          </a:p>
        </p:txBody>
      </p:sp>
      <p:sp>
        <p:nvSpPr>
          <p:cNvPr id="11" name="Shape 9"/>
          <p:cNvSpPr/>
          <p:nvPr/>
        </p:nvSpPr>
        <p:spPr>
          <a:xfrm>
            <a:off x="6199632" y="5257800"/>
            <a:ext cx="2560320" cy="960120"/>
          </a:xfrm>
          <a:prstGeom prst="roundRect">
            <a:avLst>
              <a:gd name="adj" fmla="val 6667"/>
            </a:avLst>
          </a:prstGeom>
          <a:solidFill>
            <a:srgbClr val="433C34"/>
          </a:solidFill>
          <a:ln w="12700">
            <a:solidFill>
              <a:srgbClr val="433C34"/>
            </a:solidFill>
            <a:prstDash val="solid"/>
          </a:ln>
        </p:spPr>
      </p:sp>
      <p:sp>
        <p:nvSpPr>
          <p:cNvPr id="12" name="Text 10"/>
          <p:cNvSpPr txBox="1"/>
          <p:nvPr/>
        </p:nvSpPr>
        <p:spPr>
          <a:xfrm>
            <a:off x="6382512" y="5330952"/>
            <a:ext cx="2194560" cy="457200"/>
          </a:xfrm>
          <a:prstGeom prst="rect">
            <a:avLst/>
          </a:prstGeom>
          <a:noFill/>
          <a:ln/>
        </p:spPr>
        <p:txBody>
          <a:bodyPr wrap="square" lIns="0" tIns="0" rIns="0" bIns="0" rtlCol="0" anchor="ctr"/>
          <a:lstStyle/>
          <a:p>
            <a:pPr indent="0" marL="0">
              <a:buNone/>
            </a:pPr>
            <a:r>
              <a:rPr lang="en-US" sz="2200" b="1" dirty="0">
                <a:solidFill>
                  <a:srgbClr val="F2A07B"/>
                </a:solidFill>
                <a:latin typeface="Cambria" pitchFamily="34" charset="0"/>
                <a:ea typeface="Cambria" pitchFamily="34" charset="-122"/>
                <a:cs typeface="Cambria" pitchFamily="34" charset="-120"/>
              </a:rPr>
              <a:t>0</a:t>
            </a:r>
            <a:endParaRPr lang="en-US" sz="2200" dirty="0"/>
          </a:p>
        </p:txBody>
      </p:sp>
      <p:sp>
        <p:nvSpPr>
          <p:cNvPr id="13" name="Text 11"/>
          <p:cNvSpPr txBox="1"/>
          <p:nvPr/>
        </p:nvSpPr>
        <p:spPr>
          <a:xfrm>
            <a:off x="6382512" y="5806440"/>
            <a:ext cx="2194560" cy="320040"/>
          </a:xfrm>
          <a:prstGeom prst="rect">
            <a:avLst/>
          </a:prstGeom>
          <a:noFill/>
          <a:ln/>
        </p:spPr>
        <p:txBody>
          <a:bodyPr wrap="square" lIns="0" tIns="0" rIns="0" bIns="0" rtlCol="0" anchor="t"/>
          <a:lstStyle/>
          <a:p>
            <a:pPr indent="0" marL="0">
              <a:buNone/>
            </a:pPr>
            <a:r>
              <a:rPr lang="en-US" sz="1150" dirty="0">
                <a:solidFill>
                  <a:srgbClr val="EADFD3"/>
                </a:solidFill>
                <a:latin typeface="Calibri" pitchFamily="34" charset="0"/>
                <a:ea typeface="Calibri" pitchFamily="34" charset="-122"/>
                <a:cs typeface="Calibri" pitchFamily="34" charset="-120"/>
              </a:rPr>
              <a:t>critical security findings</a:t>
            </a:r>
            <a:endParaRPr lang="en-US" sz="1150" dirty="0"/>
          </a:p>
        </p:txBody>
      </p:sp>
      <p:sp>
        <p:nvSpPr>
          <p:cNvPr id="14" name="Shape 12"/>
          <p:cNvSpPr/>
          <p:nvPr/>
        </p:nvSpPr>
        <p:spPr>
          <a:xfrm>
            <a:off x="8933688" y="5257800"/>
            <a:ext cx="2560320" cy="960120"/>
          </a:xfrm>
          <a:prstGeom prst="roundRect">
            <a:avLst>
              <a:gd name="adj" fmla="val 6667"/>
            </a:avLst>
          </a:prstGeom>
          <a:solidFill>
            <a:srgbClr val="433C34"/>
          </a:solidFill>
          <a:ln w="12700">
            <a:solidFill>
              <a:srgbClr val="433C34"/>
            </a:solidFill>
            <a:prstDash val="solid"/>
          </a:ln>
        </p:spPr>
      </p:sp>
      <p:sp>
        <p:nvSpPr>
          <p:cNvPr id="15" name="Text 13"/>
          <p:cNvSpPr txBox="1"/>
          <p:nvPr/>
        </p:nvSpPr>
        <p:spPr>
          <a:xfrm>
            <a:off x="9116568" y="5330952"/>
            <a:ext cx="2194560" cy="457200"/>
          </a:xfrm>
          <a:prstGeom prst="rect">
            <a:avLst/>
          </a:prstGeom>
          <a:noFill/>
          <a:ln/>
        </p:spPr>
        <p:txBody>
          <a:bodyPr wrap="square" lIns="0" tIns="0" rIns="0" bIns="0" rtlCol="0" anchor="ctr"/>
          <a:lstStyle/>
          <a:p>
            <a:pPr indent="0" marL="0">
              <a:buNone/>
            </a:pPr>
            <a:r>
              <a:rPr lang="en-US" sz="2200" b="1" dirty="0">
                <a:solidFill>
                  <a:srgbClr val="F2A07B"/>
                </a:solidFill>
                <a:latin typeface="Cambria" pitchFamily="34" charset="0"/>
                <a:ea typeface="Cambria" pitchFamily="34" charset="-122"/>
                <a:cs typeface="Cambria" pitchFamily="34" charset="-120"/>
              </a:rPr>
              <a:t>3 s</a:t>
            </a:r>
            <a:endParaRPr lang="en-US" sz="2200" dirty="0"/>
          </a:p>
        </p:txBody>
      </p:sp>
      <p:sp>
        <p:nvSpPr>
          <p:cNvPr id="16" name="Text 14"/>
          <p:cNvSpPr txBox="1"/>
          <p:nvPr/>
        </p:nvSpPr>
        <p:spPr>
          <a:xfrm>
            <a:off x="9116568" y="5806440"/>
            <a:ext cx="2194560" cy="320040"/>
          </a:xfrm>
          <a:prstGeom prst="rect">
            <a:avLst/>
          </a:prstGeom>
          <a:noFill/>
          <a:ln/>
        </p:spPr>
        <p:txBody>
          <a:bodyPr wrap="square" lIns="0" tIns="0" rIns="0" bIns="0" rtlCol="0" anchor="t"/>
          <a:lstStyle/>
          <a:p>
            <a:pPr indent="0" marL="0">
              <a:buNone/>
            </a:pPr>
            <a:r>
              <a:rPr lang="en-US" sz="1150" dirty="0">
                <a:solidFill>
                  <a:srgbClr val="EADFD3"/>
                </a:solidFill>
                <a:latin typeface="Calibri" pitchFamily="34" charset="0"/>
                <a:ea typeface="Calibri" pitchFamily="34" charset="-122"/>
                <a:cs typeface="Calibri" pitchFamily="34" charset="-120"/>
              </a:rPr>
              <a:t>rollback of a bad release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Merchant Settlement Intelligence Platform</dc:title>
  <dc:subject>PptxGenJS Presentation</dc:subject>
  <dc:creator>PptxGenJS</dc:creator>
  <cp:lastModifiedBy>PptxGenJS</cp:lastModifiedBy>
  <cp:revision>1</cp:revision>
  <dcterms:created xsi:type="dcterms:W3CDTF">2026-09-27T20:04:42Z</dcterms:created>
  <dcterms:modified xsi:type="dcterms:W3CDTF">2026-09-27T20:04:42Z</dcterms:modified>
</cp:coreProperties>
</file>